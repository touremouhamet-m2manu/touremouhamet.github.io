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141574-8269-5B36-4A7E-12E040A8C9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18D5B06-6ADB-F2F4-9C14-603D0AF854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0CE34D5-AD69-2730-C52F-95B2AE5FE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50678-FC48-4912-A912-0C1660BC86D1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66CA1B-5FB6-1808-2305-738B95075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0F98DF0-43F5-5DC1-E30F-E062BF4A7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A5CAB-03D8-4697-B13A-12186D2065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7303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1ABFE6-CDB9-CF71-CAA0-2877890E2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1646DD-4333-5959-7520-856113F37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C3B81F1-E3F9-23E9-E5BC-DC3D61A49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50678-FC48-4912-A912-0C1660BC86D1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78953D1-4BB9-7524-B227-D2E65614F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1F35038-3DF5-F4AA-9070-485846AED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A5CAB-03D8-4697-B13A-12186D2065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1776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88EBEC-68EB-2904-5544-3E1ACFF78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7F69E43-4882-CED3-85D2-C46D5E1CF9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3013098-90CF-7C01-5279-BDD75019E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50678-FC48-4912-A912-0C1660BC86D1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AC2BDDA-D1BF-0B55-A76B-105F1E519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21A246-30CF-2D6A-06AE-B80D6FA58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A5CAB-03D8-4697-B13A-12186D2065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5824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E0FDDF-7A28-B961-1D6D-4D097EB6F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3975CFC-C019-9289-1D31-4E7CA71AF5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4FE2EAD-E254-5BC6-2A92-8B2A4FA66C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6AC8F42-73DF-797A-11DF-3492A1FC6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50678-FC48-4912-A912-0C1660BC86D1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B098B73-C20A-4416-0BCE-417342C8D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23B5499-9A4E-C9B0-5308-A643A18B2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A5CAB-03D8-4697-B13A-12186D2065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3895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9C7976-A509-82FA-61B8-02032BBB5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9115549-E329-A2ED-3F69-715A699C3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399F997-8785-DAB7-C429-8E4665E000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886870D-5FA7-BF85-D77E-6668F19B08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9B31805-1CE6-6C8F-6348-653A88973C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765D67A-A96E-8A99-9A95-DC60C5C19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50678-FC48-4912-A912-0C1660BC86D1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033FD43-A445-F7BF-BF8A-50C2934E2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6EF3256-1802-DE8C-1CC1-C68F359EE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A5CAB-03D8-4697-B13A-12186D2065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9134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9238DE-0EC5-0FDC-2B1B-015C546E3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20B6BA3-5139-6FF2-1E9B-3FF61EBF3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50678-FC48-4912-A912-0C1660BC86D1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97B6DC0-97E1-BF89-3FAE-84F2AD40F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2869289-2FFD-6ECC-C1E8-DEE6209CE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A5CAB-03D8-4697-B13A-12186D2065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4095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100ED59-ABF8-38A3-3943-6B0E32041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50678-FC48-4912-A912-0C1660BC86D1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725D1CB-78C5-5837-31FC-6634EE16A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75E767F-DCC5-08F8-C7B0-6FF524276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A5CAB-03D8-4697-B13A-12186D2065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3306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95459A-29FD-6A70-B876-FFBEF4762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02B791-7B5A-4318-00D2-E2AA67E93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299B885-1F0F-F022-1DF8-A4A89C837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97C3FDB-2208-D46C-9DA1-14BF07CC7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50678-FC48-4912-A912-0C1660BC86D1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91D008B-E613-072B-E9B8-232E0FA3B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E56936-8134-ADCC-559B-C78F8DE55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A5CAB-03D8-4697-B13A-12186D2065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8002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209FAE-46DC-DEEB-D2E5-F7C79C809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5B3CBB4-DAFA-E7BA-FF0A-4346487651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AC18996-52F4-AA86-CCB1-E286207246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8931BA2-7ED1-A9BE-874A-9BA7502DB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50678-FC48-4912-A912-0C1660BC86D1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88A8A32-992A-06A0-5D79-BEE589C87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9B282AA-33E2-4AFB-176A-CE956B984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A5CAB-03D8-4697-B13A-12186D2065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4537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D03D64-FF6F-04AC-8789-76BF37CC9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ADE86AE-A05E-8A7C-1F13-CD968CD7A5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A8BADF7-312B-32ED-2952-E5B32C8DC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50678-FC48-4912-A912-0C1660BC86D1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B2F8F1E-682D-FC53-DC38-22D40D2F6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6720046-D6C1-A74D-3B7C-6F53D665B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A5CAB-03D8-4697-B13A-12186D2065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898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7FD3B4C-AB46-919A-795E-F543DE9E38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9656949-1F61-6C8B-A2D3-02C7B1A7B4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1A76FAA-879B-F1AE-A114-F77B46617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50678-FC48-4912-A912-0C1660BC86D1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B73DD14-7DF3-CC85-9ADF-020C029DA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0F73B98-588A-BE47-EF84-30934AA2E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A5CAB-03D8-4697-B13A-12186D2065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8223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0372A13-299E-6984-3867-7FC3FEF97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C9E76FB-B1DC-4F51-2B76-AFA2045919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2C96811-9663-1109-1804-F350F73A74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B50678-FC48-4912-A912-0C1660BC86D1}" type="datetimeFigureOut">
              <a:rPr lang="fr-FR" smtClean="0"/>
              <a:t>29/09/2025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00AAA1B-5968-B2B2-941D-FCE608A950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8B011BD-D83F-CCBA-4AF6-399A27634C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1A5CAB-03D8-4697-B13A-12186D2065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3348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10">
            <a:extLst>
              <a:ext uri="{FF2B5EF4-FFF2-40B4-BE49-F238E27FC236}">
                <a16:creationId xmlns:a16="http://schemas.microsoft.com/office/drawing/2014/main" id="{0E2FEE4F-B6F1-9A90-3C4E-FA51E9EF3B14}"/>
              </a:ext>
            </a:extLst>
          </p:cNvPr>
          <p:cNvSpPr txBox="1"/>
          <p:nvPr/>
        </p:nvSpPr>
        <p:spPr>
          <a:xfrm>
            <a:off x="199225" y="116360"/>
            <a:ext cx="1563624" cy="83099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200" dirty="0">
                <a:cs typeface="Arial"/>
              </a:rPr>
              <a:t>Given </a:t>
            </a:r>
            <a:r>
              <a:rPr lang="en-GB" sz="1200" b="1" dirty="0">
                <a:cs typeface="Arial"/>
              </a:rPr>
              <a:t>N</a:t>
            </a:r>
            <a:r>
              <a:rPr lang="en-GB" sz="1200" dirty="0">
                <a:cs typeface="Arial"/>
              </a:rPr>
              <a:t> sample size, function y=f(x) defined on interval (L,R)</a:t>
            </a:r>
            <a:endParaRPr lang="en-US" sz="1200" dirty="0">
              <a:cs typeface="Arial"/>
            </a:endParaRPr>
          </a:p>
        </p:txBody>
      </p:sp>
      <p:sp>
        <p:nvSpPr>
          <p:cNvPr id="9" name="ZoneTexte 3">
            <a:extLst>
              <a:ext uri="{FF2B5EF4-FFF2-40B4-BE49-F238E27FC236}">
                <a16:creationId xmlns:a16="http://schemas.microsoft.com/office/drawing/2014/main" id="{E40E6D88-7A43-8D00-C4B8-DB9426DAE2F3}"/>
              </a:ext>
            </a:extLst>
          </p:cNvPr>
          <p:cNvSpPr txBox="1"/>
          <p:nvPr/>
        </p:nvSpPr>
        <p:spPr>
          <a:xfrm>
            <a:off x="2073378" y="346449"/>
            <a:ext cx="1222032" cy="2616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100" dirty="0" err="1"/>
              <a:t>hx</a:t>
            </a:r>
            <a:r>
              <a:rPr lang="fr-FR" sz="1100" dirty="0"/>
              <a:t>=(R-L)/(N-1)</a:t>
            </a:r>
            <a:endParaRPr lang="fr-FR" sz="800" dirty="0"/>
          </a:p>
        </p:txBody>
      </p:sp>
      <p:sp>
        <p:nvSpPr>
          <p:cNvPr id="11" name="ZoneTexte 6">
            <a:extLst>
              <a:ext uri="{FF2B5EF4-FFF2-40B4-BE49-F238E27FC236}">
                <a16:creationId xmlns:a16="http://schemas.microsoft.com/office/drawing/2014/main" id="{55C4C4E6-6209-9696-F506-B480B2DFFFED}"/>
              </a:ext>
            </a:extLst>
          </p:cNvPr>
          <p:cNvSpPr txBox="1"/>
          <p:nvPr/>
        </p:nvSpPr>
        <p:spPr>
          <a:xfrm>
            <a:off x="3707687" y="303437"/>
            <a:ext cx="997762" cy="4154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050" dirty="0" err="1"/>
              <a:t>Sample</a:t>
            </a:r>
            <a:r>
              <a:rPr lang="fr-FR" sz="1050" dirty="0"/>
              <a:t> yi=f(xi) @ </a:t>
            </a:r>
            <a:r>
              <a:rPr lang="fr-FR" sz="1050" b="1" dirty="0"/>
              <a:t>N</a:t>
            </a:r>
            <a:r>
              <a:rPr lang="fr-FR" sz="1050" dirty="0"/>
              <a:t> xi</a:t>
            </a:r>
          </a:p>
        </p:txBody>
      </p:sp>
      <p:sp>
        <p:nvSpPr>
          <p:cNvPr id="14" name="Flèche : droite 13">
            <a:extLst>
              <a:ext uri="{FF2B5EF4-FFF2-40B4-BE49-F238E27FC236}">
                <a16:creationId xmlns:a16="http://schemas.microsoft.com/office/drawing/2014/main" id="{C893F92E-3C3B-AB38-59EA-5BF1F9EA795B}"/>
              </a:ext>
            </a:extLst>
          </p:cNvPr>
          <p:cNvSpPr/>
          <p:nvPr/>
        </p:nvSpPr>
        <p:spPr>
          <a:xfrm>
            <a:off x="1800045" y="443322"/>
            <a:ext cx="240389" cy="678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23" name="ZoneTexte 47">
            <a:extLst>
              <a:ext uri="{FF2B5EF4-FFF2-40B4-BE49-F238E27FC236}">
                <a16:creationId xmlns:a16="http://schemas.microsoft.com/office/drawing/2014/main" id="{14A91E66-243B-E7CD-0A5D-B72AB12A8542}"/>
              </a:ext>
            </a:extLst>
          </p:cNvPr>
          <p:cNvSpPr txBox="1"/>
          <p:nvPr/>
        </p:nvSpPr>
        <p:spPr>
          <a:xfrm>
            <a:off x="7863184" y="118611"/>
            <a:ext cx="3790950" cy="276999"/>
          </a:xfrm>
          <a:prstGeom prst="rect">
            <a:avLst/>
          </a:prstGeom>
          <a:solidFill>
            <a:srgbClr val="ED7D31"/>
          </a:solidFill>
          <a:ln>
            <a:solidFill>
              <a:srgbClr val="00B05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 dirty="0">
                <a:cs typeface="Arial"/>
              </a:rPr>
              <a:t>Riemann integration workflow</a:t>
            </a:r>
            <a:endParaRPr lang="fr-FR" sz="1200" dirty="0"/>
          </a:p>
        </p:txBody>
      </p:sp>
      <p:sp>
        <p:nvSpPr>
          <p:cNvPr id="45" name="Flèche : droite 44">
            <a:extLst>
              <a:ext uri="{FF2B5EF4-FFF2-40B4-BE49-F238E27FC236}">
                <a16:creationId xmlns:a16="http://schemas.microsoft.com/office/drawing/2014/main" id="{CD59FDF4-4EB6-B532-0F70-28E57D55B6BF}"/>
              </a:ext>
            </a:extLst>
          </p:cNvPr>
          <p:cNvSpPr/>
          <p:nvPr/>
        </p:nvSpPr>
        <p:spPr>
          <a:xfrm>
            <a:off x="3317093" y="422649"/>
            <a:ext cx="368911" cy="1092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46" name="ZoneTexte 47">
            <a:extLst>
              <a:ext uri="{FF2B5EF4-FFF2-40B4-BE49-F238E27FC236}">
                <a16:creationId xmlns:a16="http://schemas.microsoft.com/office/drawing/2014/main" id="{EBDB781B-5399-755A-EA51-18E6DF16E042}"/>
              </a:ext>
            </a:extLst>
          </p:cNvPr>
          <p:cNvSpPr txBox="1"/>
          <p:nvPr/>
        </p:nvSpPr>
        <p:spPr>
          <a:xfrm>
            <a:off x="7863184" y="772689"/>
            <a:ext cx="3790950" cy="276999"/>
          </a:xfrm>
          <a:prstGeom prst="rect">
            <a:avLst/>
          </a:prstGeom>
          <a:solidFill>
            <a:srgbClr val="ED7D31"/>
          </a:solidFill>
          <a:ln>
            <a:solidFill>
              <a:srgbClr val="00B05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 dirty="0">
                <a:cs typeface="Arial"/>
              </a:rPr>
              <a:t>Lebesgues integration workflow</a:t>
            </a:r>
            <a:endParaRPr lang="fr-FR" sz="1200" dirty="0"/>
          </a:p>
        </p:txBody>
      </p:sp>
      <p:sp>
        <p:nvSpPr>
          <p:cNvPr id="47" name="ZoneTexte 6">
            <a:extLst>
              <a:ext uri="{FF2B5EF4-FFF2-40B4-BE49-F238E27FC236}">
                <a16:creationId xmlns:a16="http://schemas.microsoft.com/office/drawing/2014/main" id="{08CE7783-2B6C-5451-FD72-F8C50C5EEA96}"/>
              </a:ext>
            </a:extLst>
          </p:cNvPr>
          <p:cNvSpPr txBox="1"/>
          <p:nvPr/>
        </p:nvSpPr>
        <p:spPr>
          <a:xfrm>
            <a:off x="5080382" y="319466"/>
            <a:ext cx="1162998" cy="2539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050" dirty="0"/>
              <a:t>IR=</a:t>
            </a:r>
            <a:r>
              <a:rPr lang="fr-FR" sz="1050" dirty="0" err="1"/>
              <a:t>Sum_N</a:t>
            </a:r>
            <a:r>
              <a:rPr lang="fr-FR" sz="1050" dirty="0"/>
              <a:t> </a:t>
            </a:r>
            <a:r>
              <a:rPr lang="fr-FR" sz="1050" dirty="0" err="1"/>
              <a:t>hx</a:t>
            </a:r>
            <a:r>
              <a:rPr lang="fr-FR" sz="1050" dirty="0"/>
              <a:t> * yi</a:t>
            </a:r>
          </a:p>
        </p:txBody>
      </p:sp>
      <p:sp>
        <p:nvSpPr>
          <p:cNvPr id="48" name="Flèche : droite 47">
            <a:extLst>
              <a:ext uri="{FF2B5EF4-FFF2-40B4-BE49-F238E27FC236}">
                <a16:creationId xmlns:a16="http://schemas.microsoft.com/office/drawing/2014/main" id="{DB606241-EB95-BA64-ADB3-E6434D65EFAF}"/>
              </a:ext>
            </a:extLst>
          </p:cNvPr>
          <p:cNvSpPr/>
          <p:nvPr/>
        </p:nvSpPr>
        <p:spPr>
          <a:xfrm>
            <a:off x="4705449" y="404901"/>
            <a:ext cx="368911" cy="1092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49" name="ZoneTexte 10">
            <a:extLst>
              <a:ext uri="{FF2B5EF4-FFF2-40B4-BE49-F238E27FC236}">
                <a16:creationId xmlns:a16="http://schemas.microsoft.com/office/drawing/2014/main" id="{9099F397-A401-EEA2-FAAC-8B104F4F4F27}"/>
              </a:ext>
            </a:extLst>
          </p:cNvPr>
          <p:cNvSpPr txBox="1"/>
          <p:nvPr/>
        </p:nvSpPr>
        <p:spPr>
          <a:xfrm>
            <a:off x="144736" y="1111521"/>
            <a:ext cx="1448774" cy="83099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200" dirty="0">
                <a:cs typeface="Arial"/>
              </a:rPr>
              <a:t>Given N, M sample sizes, function y=f(x) defined on interval (L,R)</a:t>
            </a:r>
            <a:endParaRPr lang="en-US" sz="1200" dirty="0">
              <a:cs typeface="Arial"/>
            </a:endParaRPr>
          </a:p>
        </p:txBody>
      </p:sp>
      <p:sp>
        <p:nvSpPr>
          <p:cNvPr id="50" name="ZoneTexte 3">
            <a:extLst>
              <a:ext uri="{FF2B5EF4-FFF2-40B4-BE49-F238E27FC236}">
                <a16:creationId xmlns:a16="http://schemas.microsoft.com/office/drawing/2014/main" id="{89ED828C-1250-E33C-ECF5-4D3E2A3B42F8}"/>
              </a:ext>
            </a:extLst>
          </p:cNvPr>
          <p:cNvSpPr txBox="1"/>
          <p:nvPr/>
        </p:nvSpPr>
        <p:spPr>
          <a:xfrm>
            <a:off x="1851003" y="1333851"/>
            <a:ext cx="1222032" cy="430887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100" dirty="0" err="1"/>
              <a:t>Sample</a:t>
            </a:r>
            <a:r>
              <a:rPr lang="fr-FR" sz="1100" dirty="0"/>
              <a:t> yi=f(xi) @ </a:t>
            </a:r>
            <a:r>
              <a:rPr lang="fr-FR" sz="1100" b="1" dirty="0"/>
              <a:t>M</a:t>
            </a:r>
            <a:r>
              <a:rPr lang="fr-FR" sz="1100" dirty="0"/>
              <a:t> xi</a:t>
            </a:r>
          </a:p>
        </p:txBody>
      </p:sp>
      <p:sp>
        <p:nvSpPr>
          <p:cNvPr id="51" name="ZoneTexte 6">
            <a:extLst>
              <a:ext uri="{FF2B5EF4-FFF2-40B4-BE49-F238E27FC236}">
                <a16:creationId xmlns:a16="http://schemas.microsoft.com/office/drawing/2014/main" id="{335D8128-E489-A7B3-177B-6412866D910C}"/>
              </a:ext>
            </a:extLst>
          </p:cNvPr>
          <p:cNvSpPr txBox="1"/>
          <p:nvPr/>
        </p:nvSpPr>
        <p:spPr>
          <a:xfrm>
            <a:off x="3312312" y="1146562"/>
            <a:ext cx="640276" cy="738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050" dirty="0"/>
              <a:t>Fin min and max of yi</a:t>
            </a:r>
          </a:p>
        </p:txBody>
      </p:sp>
      <p:sp>
        <p:nvSpPr>
          <p:cNvPr id="52" name="Flèche : droite 51">
            <a:extLst>
              <a:ext uri="{FF2B5EF4-FFF2-40B4-BE49-F238E27FC236}">
                <a16:creationId xmlns:a16="http://schemas.microsoft.com/office/drawing/2014/main" id="{8714BAEC-A205-9036-813A-99CC99CAFF8A}"/>
              </a:ext>
            </a:extLst>
          </p:cNvPr>
          <p:cNvSpPr/>
          <p:nvPr/>
        </p:nvSpPr>
        <p:spPr>
          <a:xfrm>
            <a:off x="1610614" y="1448458"/>
            <a:ext cx="240389" cy="678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53" name="Flèche : droite 52">
            <a:extLst>
              <a:ext uri="{FF2B5EF4-FFF2-40B4-BE49-F238E27FC236}">
                <a16:creationId xmlns:a16="http://schemas.microsoft.com/office/drawing/2014/main" id="{7F82C9C8-24C4-6B59-8C93-B0DA833F1FF5}"/>
              </a:ext>
            </a:extLst>
          </p:cNvPr>
          <p:cNvSpPr/>
          <p:nvPr/>
        </p:nvSpPr>
        <p:spPr>
          <a:xfrm>
            <a:off x="3075577" y="1423229"/>
            <a:ext cx="236735" cy="108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54" name="ZoneTexte 6">
            <a:extLst>
              <a:ext uri="{FF2B5EF4-FFF2-40B4-BE49-F238E27FC236}">
                <a16:creationId xmlns:a16="http://schemas.microsoft.com/office/drawing/2014/main" id="{F0D9D757-48B0-CD2D-FB71-D03308F79B54}"/>
              </a:ext>
            </a:extLst>
          </p:cNvPr>
          <p:cNvSpPr txBox="1"/>
          <p:nvPr/>
        </p:nvSpPr>
        <p:spPr>
          <a:xfrm>
            <a:off x="5533540" y="1238480"/>
            <a:ext cx="1803350" cy="5770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050" dirty="0" err="1"/>
              <a:t>Define</a:t>
            </a:r>
            <a:r>
              <a:rPr lang="fr-FR" sz="1050" dirty="0"/>
              <a:t> </a:t>
            </a:r>
            <a:r>
              <a:rPr lang="fr-FR" sz="1050" dirty="0" err="1"/>
              <a:t>uniform</a:t>
            </a:r>
            <a:r>
              <a:rPr lang="fr-FR" sz="1050" dirty="0"/>
              <a:t> N sampling or Mask in y</a:t>
            </a:r>
          </a:p>
          <a:p>
            <a:pPr algn="ctr"/>
            <a:r>
              <a:rPr lang="es-ES" sz="1050" dirty="0" err="1"/>
              <a:t>Mask_i</a:t>
            </a:r>
            <a:r>
              <a:rPr lang="es-ES" sz="1050" dirty="0"/>
              <a:t> ={ x | L</a:t>
            </a:r>
            <a:r>
              <a:rPr lang="es-ES" sz="1050" baseline="-25000" dirty="0"/>
              <a:t>i</a:t>
            </a:r>
            <a:r>
              <a:rPr lang="es-ES" sz="1050" dirty="0"/>
              <a:t> ≤ f(x) &lt; L</a:t>
            </a:r>
            <a:r>
              <a:rPr lang="es-ES" sz="1050" baseline="-25000" dirty="0"/>
              <a:t>i+1</a:t>
            </a:r>
            <a:r>
              <a:rPr lang="fr-FR" sz="1050" baseline="-25000" dirty="0"/>
              <a:t> </a:t>
            </a:r>
            <a:r>
              <a:rPr lang="fr-FR" sz="1050" dirty="0"/>
              <a:t>}</a:t>
            </a:r>
          </a:p>
        </p:txBody>
      </p:sp>
      <p:sp>
        <p:nvSpPr>
          <p:cNvPr id="55" name="Flèche : droite 54">
            <a:extLst>
              <a:ext uri="{FF2B5EF4-FFF2-40B4-BE49-F238E27FC236}">
                <a16:creationId xmlns:a16="http://schemas.microsoft.com/office/drawing/2014/main" id="{F7841112-4497-5CFD-A8AD-F904BEAE0A49}"/>
              </a:ext>
            </a:extLst>
          </p:cNvPr>
          <p:cNvSpPr/>
          <p:nvPr/>
        </p:nvSpPr>
        <p:spPr>
          <a:xfrm>
            <a:off x="3963227" y="1430911"/>
            <a:ext cx="236735" cy="108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56" name="Flèche : droite 55">
            <a:extLst>
              <a:ext uri="{FF2B5EF4-FFF2-40B4-BE49-F238E27FC236}">
                <a16:creationId xmlns:a16="http://schemas.microsoft.com/office/drawing/2014/main" id="{14D3BDA3-F897-5D98-D701-630B72FE0A26}"/>
              </a:ext>
            </a:extLst>
          </p:cNvPr>
          <p:cNvSpPr/>
          <p:nvPr/>
        </p:nvSpPr>
        <p:spPr>
          <a:xfrm>
            <a:off x="5305816" y="1439867"/>
            <a:ext cx="236735" cy="108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57" name="ZoneTexte 6">
            <a:extLst>
              <a:ext uri="{FF2B5EF4-FFF2-40B4-BE49-F238E27FC236}">
                <a16:creationId xmlns:a16="http://schemas.microsoft.com/office/drawing/2014/main" id="{81506231-DEF1-5FF8-08F3-AB1A813AA6B0}"/>
              </a:ext>
            </a:extLst>
          </p:cNvPr>
          <p:cNvSpPr txBox="1"/>
          <p:nvPr/>
        </p:nvSpPr>
        <p:spPr>
          <a:xfrm>
            <a:off x="7494772" y="1130397"/>
            <a:ext cx="1925661" cy="738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050" dirty="0"/>
              <a:t>Non </a:t>
            </a:r>
            <a:r>
              <a:rPr lang="fr-FR" sz="1050" dirty="0" err="1"/>
              <a:t>connexity</a:t>
            </a:r>
            <a:r>
              <a:rPr lang="fr-FR" sz="1050" dirty="0"/>
              <a:t>:</a:t>
            </a:r>
          </a:p>
          <a:p>
            <a:pPr algn="ctr"/>
            <a:r>
              <a:rPr lang="fr-FR" sz="1050" dirty="0" err="1"/>
              <a:t>Define</a:t>
            </a:r>
            <a:r>
              <a:rPr lang="fr-FR" sz="1050" dirty="0"/>
              <a:t> N </a:t>
            </a:r>
            <a:r>
              <a:rPr lang="fr-FR" sz="1050" dirty="0" err="1"/>
              <a:t>Lebesgues</a:t>
            </a:r>
            <a:r>
              <a:rPr lang="fr-FR" sz="1050" dirty="0"/>
              <a:t> </a:t>
            </a:r>
            <a:r>
              <a:rPr lang="fr-FR" sz="1050" dirty="0" err="1"/>
              <a:t>measure_i</a:t>
            </a:r>
            <a:endParaRPr lang="fr-FR" sz="1050" dirty="0"/>
          </a:p>
          <a:p>
            <a:pPr algn="ctr"/>
            <a:r>
              <a:rPr lang="en-US" sz="1050" dirty="0"/>
              <a:t>Sum(</a:t>
            </a:r>
            <a:r>
              <a:rPr lang="en-US" sz="1050" dirty="0" err="1"/>
              <a:t>Mask_i</a:t>
            </a:r>
            <a:r>
              <a:rPr lang="en-US" sz="1050" dirty="0"/>
              <a:t>) * (R-L) / (</a:t>
            </a:r>
            <a:r>
              <a:rPr lang="en-US" sz="1050" b="1" dirty="0"/>
              <a:t>M</a:t>
            </a:r>
            <a:r>
              <a:rPr lang="en-US" sz="1050" dirty="0"/>
              <a:t>-1)</a:t>
            </a:r>
            <a:endParaRPr lang="fr-FR" sz="1050" dirty="0"/>
          </a:p>
        </p:txBody>
      </p:sp>
      <p:sp>
        <p:nvSpPr>
          <p:cNvPr id="59" name="ZoneTexte 6">
            <a:extLst>
              <a:ext uri="{FF2B5EF4-FFF2-40B4-BE49-F238E27FC236}">
                <a16:creationId xmlns:a16="http://schemas.microsoft.com/office/drawing/2014/main" id="{C48D63E7-85A7-AF25-D6A2-77B040ABAB4C}"/>
              </a:ext>
            </a:extLst>
          </p:cNvPr>
          <p:cNvSpPr txBox="1"/>
          <p:nvPr/>
        </p:nvSpPr>
        <p:spPr>
          <a:xfrm>
            <a:off x="4171105" y="1062116"/>
            <a:ext cx="1119518" cy="9002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050" dirty="0" err="1"/>
              <a:t>Define</a:t>
            </a:r>
            <a:r>
              <a:rPr lang="fr-FR" sz="1050" dirty="0"/>
              <a:t> </a:t>
            </a:r>
            <a:r>
              <a:rPr lang="fr-FR" sz="1050" dirty="0" err="1"/>
              <a:t>uniform</a:t>
            </a:r>
            <a:r>
              <a:rPr lang="fr-FR" sz="1050" dirty="0"/>
              <a:t> sampling on </a:t>
            </a:r>
            <a:r>
              <a:rPr lang="fr-FR" sz="1050" b="1" dirty="0"/>
              <a:t>N</a:t>
            </a:r>
            <a:r>
              <a:rPr lang="fr-FR" sz="1050" dirty="0"/>
              <a:t> </a:t>
            </a:r>
            <a:r>
              <a:rPr lang="fr-FR" sz="1050" b="1" dirty="0" err="1"/>
              <a:t>levels</a:t>
            </a:r>
            <a:r>
              <a:rPr lang="fr-FR" sz="1050" b="1" dirty="0"/>
              <a:t> Li</a:t>
            </a:r>
          </a:p>
          <a:p>
            <a:pPr algn="ctr"/>
            <a:r>
              <a:rPr lang="fr-FR" sz="1050" dirty="0" err="1"/>
              <a:t>hy</a:t>
            </a:r>
            <a:r>
              <a:rPr lang="fr-FR" sz="1050" dirty="0"/>
              <a:t>=(max-min)/(</a:t>
            </a:r>
            <a:r>
              <a:rPr lang="fr-FR" sz="1050" b="1" dirty="0"/>
              <a:t>N</a:t>
            </a:r>
            <a:r>
              <a:rPr lang="fr-FR" sz="1050" dirty="0"/>
              <a:t>-1)</a:t>
            </a:r>
          </a:p>
        </p:txBody>
      </p:sp>
      <p:sp>
        <p:nvSpPr>
          <p:cNvPr id="60" name="Flèche : droite 59">
            <a:extLst>
              <a:ext uri="{FF2B5EF4-FFF2-40B4-BE49-F238E27FC236}">
                <a16:creationId xmlns:a16="http://schemas.microsoft.com/office/drawing/2014/main" id="{28049E6E-19C3-9AC8-C81D-8B82DEAB5303}"/>
              </a:ext>
            </a:extLst>
          </p:cNvPr>
          <p:cNvSpPr/>
          <p:nvPr/>
        </p:nvSpPr>
        <p:spPr>
          <a:xfrm>
            <a:off x="7331480" y="1461521"/>
            <a:ext cx="185960" cy="9634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61" name="ZoneTexte 6">
            <a:extLst>
              <a:ext uri="{FF2B5EF4-FFF2-40B4-BE49-F238E27FC236}">
                <a16:creationId xmlns:a16="http://schemas.microsoft.com/office/drawing/2014/main" id="{30236FE8-1BF7-19C9-E1FB-051C517335C0}"/>
              </a:ext>
            </a:extLst>
          </p:cNvPr>
          <p:cNvSpPr txBox="1"/>
          <p:nvPr/>
        </p:nvSpPr>
        <p:spPr>
          <a:xfrm>
            <a:off x="9657170" y="1303953"/>
            <a:ext cx="1754048" cy="2539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050" dirty="0"/>
              <a:t>IL= </a:t>
            </a:r>
            <a:r>
              <a:rPr lang="en-US" sz="1050" dirty="0" err="1"/>
              <a:t>Sum_</a:t>
            </a:r>
            <a:r>
              <a:rPr lang="en-US" sz="1050" b="1" dirty="0" err="1"/>
              <a:t>N</a:t>
            </a:r>
            <a:r>
              <a:rPr lang="en-US" sz="1050" dirty="0"/>
              <a:t> </a:t>
            </a:r>
            <a:r>
              <a:rPr lang="en-US" sz="1050" dirty="0" err="1"/>
              <a:t>measure_i</a:t>
            </a:r>
            <a:r>
              <a:rPr lang="en-US" sz="1050" dirty="0"/>
              <a:t> * Li</a:t>
            </a:r>
            <a:endParaRPr lang="fr-FR" sz="1050" dirty="0"/>
          </a:p>
        </p:txBody>
      </p:sp>
      <p:sp>
        <p:nvSpPr>
          <p:cNvPr id="62" name="Flèche : droite 61">
            <a:extLst>
              <a:ext uri="{FF2B5EF4-FFF2-40B4-BE49-F238E27FC236}">
                <a16:creationId xmlns:a16="http://schemas.microsoft.com/office/drawing/2014/main" id="{9ACDE6EB-FE4A-95ED-3EC0-A86B69F754E4}"/>
              </a:ext>
            </a:extLst>
          </p:cNvPr>
          <p:cNvSpPr/>
          <p:nvPr/>
        </p:nvSpPr>
        <p:spPr>
          <a:xfrm>
            <a:off x="9420435" y="1384836"/>
            <a:ext cx="236735" cy="108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63" name="ZoneTexte 10">
            <a:extLst>
              <a:ext uri="{FF2B5EF4-FFF2-40B4-BE49-F238E27FC236}">
                <a16:creationId xmlns:a16="http://schemas.microsoft.com/office/drawing/2014/main" id="{D7B700BB-CA7B-CD05-FC71-0EC91D64FBBD}"/>
              </a:ext>
            </a:extLst>
          </p:cNvPr>
          <p:cNvSpPr txBox="1"/>
          <p:nvPr/>
        </p:nvSpPr>
        <p:spPr>
          <a:xfrm>
            <a:off x="60971" y="2619807"/>
            <a:ext cx="1549643" cy="120032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200" dirty="0">
                <a:cs typeface="Arial"/>
              </a:rPr>
              <a:t>Given N, M, k=0, sample sizes, </a:t>
            </a:r>
          </a:p>
          <a:p>
            <a:pPr algn="ctr"/>
            <a:r>
              <a:rPr lang="en-GB" sz="1200" dirty="0">
                <a:cs typeface="Arial"/>
              </a:rPr>
              <a:t>sample increment p,</a:t>
            </a:r>
          </a:p>
          <a:p>
            <a:pPr algn="ctr"/>
            <a:r>
              <a:rPr lang="en-GB" sz="1200" dirty="0">
                <a:cs typeface="Arial"/>
              </a:rPr>
              <a:t>function y=f(x) defined on interval (L,R)</a:t>
            </a:r>
            <a:endParaRPr lang="en-US" sz="1200" dirty="0">
              <a:cs typeface="Arial"/>
            </a:endParaRPr>
          </a:p>
        </p:txBody>
      </p:sp>
      <p:sp>
        <p:nvSpPr>
          <p:cNvPr id="64" name="ZoneTexte 3">
            <a:extLst>
              <a:ext uri="{FF2B5EF4-FFF2-40B4-BE49-F238E27FC236}">
                <a16:creationId xmlns:a16="http://schemas.microsoft.com/office/drawing/2014/main" id="{75B5DA61-48AA-F512-00BE-4791FBDF4958}"/>
              </a:ext>
            </a:extLst>
          </p:cNvPr>
          <p:cNvSpPr txBox="1"/>
          <p:nvPr/>
        </p:nvSpPr>
        <p:spPr>
          <a:xfrm>
            <a:off x="1833899" y="2829384"/>
            <a:ext cx="1222032" cy="430887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100" dirty="0" err="1"/>
              <a:t>Sample</a:t>
            </a:r>
            <a:r>
              <a:rPr lang="fr-FR" sz="1100" dirty="0"/>
              <a:t> yi=f(xi) @ </a:t>
            </a:r>
            <a:r>
              <a:rPr lang="fr-FR" sz="1100" b="1" dirty="0"/>
              <a:t>M</a:t>
            </a:r>
            <a:r>
              <a:rPr lang="fr-FR" sz="1100" dirty="0"/>
              <a:t> xi</a:t>
            </a:r>
          </a:p>
        </p:txBody>
      </p:sp>
      <p:sp>
        <p:nvSpPr>
          <p:cNvPr id="65" name="ZoneTexte 6">
            <a:extLst>
              <a:ext uri="{FF2B5EF4-FFF2-40B4-BE49-F238E27FC236}">
                <a16:creationId xmlns:a16="http://schemas.microsoft.com/office/drawing/2014/main" id="{55F5F0B6-3313-2D84-19ED-9333F9CB7FC2}"/>
              </a:ext>
            </a:extLst>
          </p:cNvPr>
          <p:cNvSpPr txBox="1"/>
          <p:nvPr/>
        </p:nvSpPr>
        <p:spPr>
          <a:xfrm>
            <a:off x="3298265" y="2675495"/>
            <a:ext cx="640276" cy="738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050" dirty="0"/>
              <a:t>Fin min and max of yi</a:t>
            </a:r>
          </a:p>
        </p:txBody>
      </p:sp>
      <p:sp>
        <p:nvSpPr>
          <p:cNvPr id="66" name="Flèche : droite 65">
            <a:extLst>
              <a:ext uri="{FF2B5EF4-FFF2-40B4-BE49-F238E27FC236}">
                <a16:creationId xmlns:a16="http://schemas.microsoft.com/office/drawing/2014/main" id="{4C6259BC-6267-6FA2-862E-34C4E9E736FE}"/>
              </a:ext>
            </a:extLst>
          </p:cNvPr>
          <p:cNvSpPr/>
          <p:nvPr/>
        </p:nvSpPr>
        <p:spPr>
          <a:xfrm>
            <a:off x="1593510" y="2943991"/>
            <a:ext cx="240389" cy="678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67" name="Flèche : droite 66">
            <a:extLst>
              <a:ext uri="{FF2B5EF4-FFF2-40B4-BE49-F238E27FC236}">
                <a16:creationId xmlns:a16="http://schemas.microsoft.com/office/drawing/2014/main" id="{501FFE81-B9E0-4037-771A-28D7AEAF92FB}"/>
              </a:ext>
            </a:extLst>
          </p:cNvPr>
          <p:cNvSpPr/>
          <p:nvPr/>
        </p:nvSpPr>
        <p:spPr>
          <a:xfrm>
            <a:off x="3067946" y="2917896"/>
            <a:ext cx="236735" cy="108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68" name="ZoneTexte 6">
            <a:extLst>
              <a:ext uri="{FF2B5EF4-FFF2-40B4-BE49-F238E27FC236}">
                <a16:creationId xmlns:a16="http://schemas.microsoft.com/office/drawing/2014/main" id="{4027E258-CF42-A6B9-6363-48CD9213A325}"/>
              </a:ext>
            </a:extLst>
          </p:cNvPr>
          <p:cNvSpPr txBox="1"/>
          <p:nvPr/>
        </p:nvSpPr>
        <p:spPr>
          <a:xfrm>
            <a:off x="5576451" y="2607147"/>
            <a:ext cx="1119518" cy="9002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050" dirty="0" err="1"/>
              <a:t>Define</a:t>
            </a:r>
            <a:r>
              <a:rPr lang="fr-FR" sz="1050" dirty="0"/>
              <a:t> </a:t>
            </a:r>
            <a:r>
              <a:rPr lang="fr-FR" sz="1050" dirty="0" err="1"/>
              <a:t>uniform</a:t>
            </a:r>
            <a:r>
              <a:rPr lang="fr-FR" sz="1050" dirty="0"/>
              <a:t> N sampling or Mask in y</a:t>
            </a:r>
          </a:p>
          <a:p>
            <a:pPr algn="ctr"/>
            <a:r>
              <a:rPr lang="es-ES" sz="1050" dirty="0" err="1"/>
              <a:t>Mask_i</a:t>
            </a:r>
            <a:r>
              <a:rPr lang="es-ES" sz="1050" dirty="0"/>
              <a:t> ={ x | L</a:t>
            </a:r>
            <a:r>
              <a:rPr lang="es-ES" sz="1050" baseline="-25000" dirty="0"/>
              <a:t>i</a:t>
            </a:r>
            <a:r>
              <a:rPr lang="es-ES" sz="1050" dirty="0"/>
              <a:t> ≤ f(x) &lt; L</a:t>
            </a:r>
            <a:r>
              <a:rPr lang="es-ES" sz="1050" baseline="-25000" dirty="0"/>
              <a:t>i+1</a:t>
            </a:r>
            <a:r>
              <a:rPr lang="fr-FR" sz="1050" baseline="-25000" dirty="0"/>
              <a:t> </a:t>
            </a:r>
            <a:r>
              <a:rPr lang="fr-FR" sz="1050" dirty="0"/>
              <a:t>}</a:t>
            </a:r>
          </a:p>
        </p:txBody>
      </p:sp>
      <p:sp>
        <p:nvSpPr>
          <p:cNvPr id="69" name="Flèche : droite 68">
            <a:extLst>
              <a:ext uri="{FF2B5EF4-FFF2-40B4-BE49-F238E27FC236}">
                <a16:creationId xmlns:a16="http://schemas.microsoft.com/office/drawing/2014/main" id="{CE8EEA5E-5651-8F29-520E-646798EBB6EF}"/>
              </a:ext>
            </a:extLst>
          </p:cNvPr>
          <p:cNvSpPr/>
          <p:nvPr/>
        </p:nvSpPr>
        <p:spPr>
          <a:xfrm>
            <a:off x="3945070" y="2917896"/>
            <a:ext cx="236735" cy="108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70" name="Flèche : droite 69">
            <a:extLst>
              <a:ext uri="{FF2B5EF4-FFF2-40B4-BE49-F238E27FC236}">
                <a16:creationId xmlns:a16="http://schemas.microsoft.com/office/drawing/2014/main" id="{C9FA4111-307D-C729-80FE-8D2D5D7FF259}"/>
              </a:ext>
            </a:extLst>
          </p:cNvPr>
          <p:cNvSpPr/>
          <p:nvPr/>
        </p:nvSpPr>
        <p:spPr>
          <a:xfrm>
            <a:off x="5336974" y="2964840"/>
            <a:ext cx="236735" cy="108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71" name="ZoneTexte 6">
            <a:extLst>
              <a:ext uri="{FF2B5EF4-FFF2-40B4-BE49-F238E27FC236}">
                <a16:creationId xmlns:a16="http://schemas.microsoft.com/office/drawing/2014/main" id="{051D0363-B2FC-D81D-847F-B6ED189A7ADC}"/>
              </a:ext>
            </a:extLst>
          </p:cNvPr>
          <p:cNvSpPr txBox="1"/>
          <p:nvPr/>
        </p:nvSpPr>
        <p:spPr>
          <a:xfrm>
            <a:off x="6940707" y="2605213"/>
            <a:ext cx="1354733" cy="9002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050" dirty="0"/>
              <a:t>Non </a:t>
            </a:r>
            <a:r>
              <a:rPr lang="fr-FR" sz="1050" dirty="0" err="1"/>
              <a:t>connexity</a:t>
            </a:r>
            <a:r>
              <a:rPr lang="fr-FR" sz="1050" dirty="0"/>
              <a:t>:</a:t>
            </a:r>
          </a:p>
          <a:p>
            <a:pPr algn="ctr"/>
            <a:r>
              <a:rPr lang="fr-FR" sz="1050" dirty="0" err="1"/>
              <a:t>Define</a:t>
            </a:r>
            <a:r>
              <a:rPr lang="fr-FR" sz="1050" dirty="0"/>
              <a:t> N </a:t>
            </a:r>
            <a:r>
              <a:rPr lang="fr-FR" sz="1050" dirty="0" err="1"/>
              <a:t>Lebesgues</a:t>
            </a:r>
            <a:r>
              <a:rPr lang="fr-FR" sz="1050" dirty="0"/>
              <a:t> </a:t>
            </a:r>
            <a:r>
              <a:rPr lang="fr-FR" sz="1050" dirty="0" err="1"/>
              <a:t>measure_i</a:t>
            </a:r>
            <a:endParaRPr lang="fr-FR" sz="1050" dirty="0"/>
          </a:p>
          <a:p>
            <a:pPr algn="ctr"/>
            <a:r>
              <a:rPr lang="en-US" sz="1050" dirty="0"/>
              <a:t>Sum(</a:t>
            </a:r>
            <a:r>
              <a:rPr lang="en-US" sz="1050" dirty="0" err="1"/>
              <a:t>Mask_i</a:t>
            </a:r>
            <a:r>
              <a:rPr lang="en-US" sz="1050" dirty="0"/>
              <a:t>) * (R-L) / (M-1)</a:t>
            </a:r>
            <a:endParaRPr lang="fr-FR" sz="1050" dirty="0"/>
          </a:p>
        </p:txBody>
      </p:sp>
      <p:sp>
        <p:nvSpPr>
          <p:cNvPr id="72" name="ZoneTexte 6">
            <a:extLst>
              <a:ext uri="{FF2B5EF4-FFF2-40B4-BE49-F238E27FC236}">
                <a16:creationId xmlns:a16="http://schemas.microsoft.com/office/drawing/2014/main" id="{84D731ED-4C29-1AFB-5E63-65132A7AFF37}"/>
              </a:ext>
            </a:extLst>
          </p:cNvPr>
          <p:cNvSpPr txBox="1"/>
          <p:nvPr/>
        </p:nvSpPr>
        <p:spPr>
          <a:xfrm>
            <a:off x="4199962" y="2607147"/>
            <a:ext cx="1119518" cy="9002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050" dirty="0" err="1"/>
              <a:t>Define</a:t>
            </a:r>
            <a:r>
              <a:rPr lang="fr-FR" sz="1050" dirty="0"/>
              <a:t> </a:t>
            </a:r>
            <a:r>
              <a:rPr lang="fr-FR" sz="1050" dirty="0" err="1"/>
              <a:t>uniform</a:t>
            </a:r>
            <a:r>
              <a:rPr lang="fr-FR" sz="1050" dirty="0"/>
              <a:t> sampling or N </a:t>
            </a:r>
            <a:r>
              <a:rPr lang="fr-FR" sz="1050" dirty="0" err="1"/>
              <a:t>levels</a:t>
            </a:r>
            <a:r>
              <a:rPr lang="fr-FR" sz="1050" dirty="0"/>
              <a:t> Li</a:t>
            </a:r>
          </a:p>
          <a:p>
            <a:pPr algn="ctr"/>
            <a:r>
              <a:rPr lang="fr-FR" sz="1050" dirty="0" err="1"/>
              <a:t>hy</a:t>
            </a:r>
            <a:r>
              <a:rPr lang="fr-FR" sz="1050" dirty="0"/>
              <a:t>=(max-min)/(N-1)</a:t>
            </a:r>
          </a:p>
        </p:txBody>
      </p:sp>
      <p:sp>
        <p:nvSpPr>
          <p:cNvPr id="73" name="Flèche : droite 72">
            <a:extLst>
              <a:ext uri="{FF2B5EF4-FFF2-40B4-BE49-F238E27FC236}">
                <a16:creationId xmlns:a16="http://schemas.microsoft.com/office/drawing/2014/main" id="{8A828FFF-9963-CA63-25E1-24B4985BBF26}"/>
              </a:ext>
            </a:extLst>
          </p:cNvPr>
          <p:cNvSpPr/>
          <p:nvPr/>
        </p:nvSpPr>
        <p:spPr>
          <a:xfrm>
            <a:off x="6713842" y="2984027"/>
            <a:ext cx="236735" cy="108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74" name="ZoneTexte 6">
            <a:extLst>
              <a:ext uri="{FF2B5EF4-FFF2-40B4-BE49-F238E27FC236}">
                <a16:creationId xmlns:a16="http://schemas.microsoft.com/office/drawing/2014/main" id="{C5CDA59C-DAB8-5350-DA49-D4C4D4F70B7A}"/>
              </a:ext>
            </a:extLst>
          </p:cNvPr>
          <p:cNvSpPr txBox="1"/>
          <p:nvPr/>
        </p:nvSpPr>
        <p:spPr>
          <a:xfrm>
            <a:off x="8510066" y="2831357"/>
            <a:ext cx="1754048" cy="2539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050" dirty="0" err="1"/>
              <a:t>IL</a:t>
            </a:r>
            <a:r>
              <a:rPr lang="fr-FR" sz="1050" baseline="-25000" dirty="0" err="1"/>
              <a:t>k</a:t>
            </a:r>
            <a:r>
              <a:rPr lang="fr-FR" sz="1050" dirty="0"/>
              <a:t>= </a:t>
            </a:r>
            <a:r>
              <a:rPr lang="en-US" sz="1050" dirty="0" err="1"/>
              <a:t>Sum_N</a:t>
            </a:r>
            <a:r>
              <a:rPr lang="en-US" sz="1050" dirty="0"/>
              <a:t> </a:t>
            </a:r>
            <a:r>
              <a:rPr lang="en-US" sz="1050" dirty="0" err="1"/>
              <a:t>measure_i</a:t>
            </a:r>
            <a:r>
              <a:rPr lang="en-US" sz="1050" dirty="0"/>
              <a:t> * Li</a:t>
            </a:r>
            <a:endParaRPr lang="fr-FR" sz="1050" dirty="0"/>
          </a:p>
        </p:txBody>
      </p:sp>
      <p:sp>
        <p:nvSpPr>
          <p:cNvPr id="75" name="Flèche : droite 74">
            <a:extLst>
              <a:ext uri="{FF2B5EF4-FFF2-40B4-BE49-F238E27FC236}">
                <a16:creationId xmlns:a16="http://schemas.microsoft.com/office/drawing/2014/main" id="{62D09D17-2E10-4D1C-5F04-A12E644AA7E0}"/>
              </a:ext>
            </a:extLst>
          </p:cNvPr>
          <p:cNvSpPr/>
          <p:nvPr/>
        </p:nvSpPr>
        <p:spPr>
          <a:xfrm rot="5400000">
            <a:off x="9356439" y="3166879"/>
            <a:ext cx="236735" cy="108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76" name="ZoneTexte 47">
            <a:extLst>
              <a:ext uri="{FF2B5EF4-FFF2-40B4-BE49-F238E27FC236}">
                <a16:creationId xmlns:a16="http://schemas.microsoft.com/office/drawing/2014/main" id="{4A4B35E9-AD87-FD5C-828A-E7E15B3CBAC1}"/>
              </a:ext>
            </a:extLst>
          </p:cNvPr>
          <p:cNvSpPr txBox="1"/>
          <p:nvPr/>
        </p:nvSpPr>
        <p:spPr>
          <a:xfrm>
            <a:off x="5592297" y="2217124"/>
            <a:ext cx="6569223" cy="261610"/>
          </a:xfrm>
          <a:prstGeom prst="rect">
            <a:avLst/>
          </a:prstGeom>
          <a:solidFill>
            <a:srgbClr val="ED7D31"/>
          </a:solidFill>
          <a:ln>
            <a:solidFill>
              <a:srgbClr val="00B05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100" dirty="0">
                <a:cs typeface="Arial"/>
              </a:rPr>
              <a:t>Optimized Lebesgues integration workflow minimizing M using Cauchy sequence and fixed-point iteration</a:t>
            </a:r>
            <a:endParaRPr lang="fr-FR" sz="1100" dirty="0"/>
          </a:p>
        </p:txBody>
      </p:sp>
      <p:sp>
        <p:nvSpPr>
          <p:cNvPr id="77" name="Flèche : droite 76">
            <a:extLst>
              <a:ext uri="{FF2B5EF4-FFF2-40B4-BE49-F238E27FC236}">
                <a16:creationId xmlns:a16="http://schemas.microsoft.com/office/drawing/2014/main" id="{1D6A2979-D4CC-AFBB-7E92-F9ED0E448D5F}"/>
              </a:ext>
            </a:extLst>
          </p:cNvPr>
          <p:cNvSpPr/>
          <p:nvPr/>
        </p:nvSpPr>
        <p:spPr>
          <a:xfrm>
            <a:off x="10092743" y="3655283"/>
            <a:ext cx="236734" cy="1683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79" name="Losange 78">
            <a:extLst>
              <a:ext uri="{FF2B5EF4-FFF2-40B4-BE49-F238E27FC236}">
                <a16:creationId xmlns:a16="http://schemas.microsoft.com/office/drawing/2014/main" id="{63AECF3C-D695-8B0D-B548-7B23BCA2208B}"/>
              </a:ext>
            </a:extLst>
          </p:cNvPr>
          <p:cNvSpPr/>
          <p:nvPr/>
        </p:nvSpPr>
        <p:spPr>
          <a:xfrm>
            <a:off x="8870234" y="3339620"/>
            <a:ext cx="1209143" cy="799702"/>
          </a:xfrm>
          <a:prstGeom prst="diamond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46A0A10E-82E6-D4D6-3B32-97E99EF43C11}"/>
              </a:ext>
            </a:extLst>
          </p:cNvPr>
          <p:cNvSpPr txBox="1"/>
          <p:nvPr/>
        </p:nvSpPr>
        <p:spPr>
          <a:xfrm>
            <a:off x="8936854" y="3450672"/>
            <a:ext cx="1075901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900" dirty="0"/>
              <a:t>If (k&gt;1 and </a:t>
            </a:r>
          </a:p>
          <a:p>
            <a:pPr algn="ctr"/>
            <a:r>
              <a:rPr lang="fr-FR" sz="900" b="1" dirty="0"/>
              <a:t>| </a:t>
            </a:r>
            <a:r>
              <a:rPr lang="fr-FR" sz="900" b="1" dirty="0" err="1"/>
              <a:t>IL</a:t>
            </a:r>
            <a:r>
              <a:rPr lang="fr-FR" sz="900" b="1" baseline="-25000" dirty="0" err="1"/>
              <a:t>k</a:t>
            </a:r>
            <a:r>
              <a:rPr lang="fr-FR" sz="900" b="1" dirty="0"/>
              <a:t> – IL</a:t>
            </a:r>
            <a:r>
              <a:rPr lang="fr-FR" sz="900" b="1" baseline="-25000" dirty="0"/>
              <a:t>k-1 </a:t>
            </a:r>
            <a:r>
              <a:rPr lang="fr-FR" sz="900" b="1" dirty="0"/>
              <a:t>| &lt; TOL</a:t>
            </a:r>
            <a:r>
              <a:rPr lang="fr-FR" sz="900" dirty="0"/>
              <a:t>)</a:t>
            </a:r>
          </a:p>
          <a:p>
            <a:pPr algn="ctr"/>
            <a:r>
              <a:rPr lang="fr-FR" sz="900" dirty="0"/>
              <a:t>or k&gt;</a:t>
            </a:r>
            <a:r>
              <a:rPr lang="fr-FR" sz="900" dirty="0" err="1"/>
              <a:t>kmax</a:t>
            </a:r>
            <a:endParaRPr lang="fr-FR" sz="900" dirty="0"/>
          </a:p>
        </p:txBody>
      </p:sp>
      <p:sp>
        <p:nvSpPr>
          <p:cNvPr id="84" name="Flèche : droite 83">
            <a:extLst>
              <a:ext uri="{FF2B5EF4-FFF2-40B4-BE49-F238E27FC236}">
                <a16:creationId xmlns:a16="http://schemas.microsoft.com/office/drawing/2014/main" id="{A25F65A0-2BBC-C1ED-10C6-665366A30DA3}"/>
              </a:ext>
            </a:extLst>
          </p:cNvPr>
          <p:cNvSpPr/>
          <p:nvPr/>
        </p:nvSpPr>
        <p:spPr>
          <a:xfrm>
            <a:off x="8281486" y="2954322"/>
            <a:ext cx="236735" cy="108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2" name="Flèche : droite 1">
            <a:extLst>
              <a:ext uri="{FF2B5EF4-FFF2-40B4-BE49-F238E27FC236}">
                <a16:creationId xmlns:a16="http://schemas.microsoft.com/office/drawing/2014/main" id="{4FDCB8EF-46D9-131B-9D15-08190D5E3D69}"/>
              </a:ext>
            </a:extLst>
          </p:cNvPr>
          <p:cNvSpPr/>
          <p:nvPr/>
        </p:nvSpPr>
        <p:spPr>
          <a:xfrm rot="10800000">
            <a:off x="8566878" y="3655282"/>
            <a:ext cx="236734" cy="1683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3" name="ZoneTexte 3">
            <a:extLst>
              <a:ext uri="{FF2B5EF4-FFF2-40B4-BE49-F238E27FC236}">
                <a16:creationId xmlns:a16="http://schemas.microsoft.com/office/drawing/2014/main" id="{B85F0670-E115-7EFF-3BB0-C1987A18830C}"/>
              </a:ext>
            </a:extLst>
          </p:cNvPr>
          <p:cNvSpPr txBox="1"/>
          <p:nvPr/>
        </p:nvSpPr>
        <p:spPr>
          <a:xfrm>
            <a:off x="7331480" y="3584485"/>
            <a:ext cx="1222032" cy="6001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100" dirty="0" err="1"/>
              <a:t>Add</a:t>
            </a:r>
            <a:r>
              <a:rPr lang="fr-FR" sz="1100" dirty="0"/>
              <a:t> p new </a:t>
            </a:r>
            <a:r>
              <a:rPr lang="fr-FR" sz="1100" dirty="0" err="1"/>
              <a:t>samples</a:t>
            </a:r>
            <a:r>
              <a:rPr lang="fr-FR" sz="1100" dirty="0"/>
              <a:t> yi=f(xi) </a:t>
            </a:r>
            <a:r>
              <a:rPr lang="fr-FR" sz="1100" dirty="0">
                <a:sym typeface="Wingdings" panose="05000000000000000000" pitchFamily="2" charset="2"/>
              </a:rPr>
              <a:t>M = M + </a:t>
            </a:r>
            <a:r>
              <a:rPr lang="fr-FR" sz="1100" b="1" dirty="0">
                <a:sym typeface="Wingdings" panose="05000000000000000000" pitchFamily="2" charset="2"/>
              </a:rPr>
              <a:t>p</a:t>
            </a:r>
            <a:endParaRPr lang="fr-FR" sz="1100" b="1" dirty="0"/>
          </a:p>
        </p:txBody>
      </p:sp>
      <p:sp>
        <p:nvSpPr>
          <p:cNvPr id="6" name="Flèche : virage 5">
            <a:extLst>
              <a:ext uri="{FF2B5EF4-FFF2-40B4-BE49-F238E27FC236}">
                <a16:creationId xmlns:a16="http://schemas.microsoft.com/office/drawing/2014/main" id="{FAD3D282-BE96-E842-93BE-9DDB69410F46}"/>
              </a:ext>
            </a:extLst>
          </p:cNvPr>
          <p:cNvSpPr/>
          <p:nvPr/>
        </p:nvSpPr>
        <p:spPr>
          <a:xfrm rot="16200000">
            <a:off x="3769720" y="2145791"/>
            <a:ext cx="697094" cy="2910889"/>
          </a:xfrm>
          <a:prstGeom prst="bentArrow">
            <a:avLst>
              <a:gd name="adj1" fmla="val 3259"/>
              <a:gd name="adj2" fmla="val 10879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7" name="ZoneTexte 31">
            <a:extLst>
              <a:ext uri="{FF2B5EF4-FFF2-40B4-BE49-F238E27FC236}">
                <a16:creationId xmlns:a16="http://schemas.microsoft.com/office/drawing/2014/main" id="{76250C54-3699-EF77-4F73-E62538CA29A0}"/>
              </a:ext>
            </a:extLst>
          </p:cNvPr>
          <p:cNvSpPr txBox="1"/>
          <p:nvPr/>
        </p:nvSpPr>
        <p:spPr>
          <a:xfrm>
            <a:off x="10092743" y="3407365"/>
            <a:ext cx="348421" cy="2000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700">
                <a:cs typeface="Arial"/>
              </a:rPr>
              <a:t>YES</a:t>
            </a:r>
            <a:endParaRPr lang="fr-FR" sz="1050"/>
          </a:p>
        </p:txBody>
      </p:sp>
      <p:sp>
        <p:nvSpPr>
          <p:cNvPr id="8" name="ZoneTexte 32">
            <a:extLst>
              <a:ext uri="{FF2B5EF4-FFF2-40B4-BE49-F238E27FC236}">
                <a16:creationId xmlns:a16="http://schemas.microsoft.com/office/drawing/2014/main" id="{1526D16B-8A78-2DBF-D35C-6569606B2966}"/>
              </a:ext>
            </a:extLst>
          </p:cNvPr>
          <p:cNvSpPr txBox="1"/>
          <p:nvPr/>
        </p:nvSpPr>
        <p:spPr>
          <a:xfrm>
            <a:off x="8534568" y="3444581"/>
            <a:ext cx="377357" cy="2000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700">
                <a:cs typeface="Arial"/>
              </a:rPr>
              <a:t>NO</a:t>
            </a:r>
            <a:endParaRPr lang="fr-FR" sz="1050"/>
          </a:p>
        </p:txBody>
      </p:sp>
      <p:sp>
        <p:nvSpPr>
          <p:cNvPr id="10" name="Flèche : droite 9">
            <a:extLst>
              <a:ext uri="{FF2B5EF4-FFF2-40B4-BE49-F238E27FC236}">
                <a16:creationId xmlns:a16="http://schemas.microsoft.com/office/drawing/2014/main" id="{84D6C674-435A-AFB8-079E-441BCCE7CBEE}"/>
              </a:ext>
            </a:extLst>
          </p:cNvPr>
          <p:cNvSpPr/>
          <p:nvPr/>
        </p:nvSpPr>
        <p:spPr>
          <a:xfrm rot="10800000">
            <a:off x="7075138" y="3781406"/>
            <a:ext cx="236734" cy="1683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12" name="ZoneTexte 3">
            <a:extLst>
              <a:ext uri="{FF2B5EF4-FFF2-40B4-BE49-F238E27FC236}">
                <a16:creationId xmlns:a16="http://schemas.microsoft.com/office/drawing/2014/main" id="{8ACE0931-1789-5AA6-9150-E9F882CF7BC3}"/>
              </a:ext>
            </a:extLst>
          </p:cNvPr>
          <p:cNvSpPr txBox="1"/>
          <p:nvPr/>
        </p:nvSpPr>
        <p:spPr>
          <a:xfrm>
            <a:off x="5561806" y="3775782"/>
            <a:ext cx="1476534" cy="2616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100" dirty="0"/>
              <a:t>k=</a:t>
            </a:r>
            <a:r>
              <a:rPr lang="fr-FR" sz="1100" dirty="0">
                <a:sym typeface="Wingdings" panose="05000000000000000000" pitchFamily="2" charset="2"/>
              </a:rPr>
              <a:t>k+1</a:t>
            </a:r>
          </a:p>
        </p:txBody>
      </p:sp>
      <p:sp>
        <p:nvSpPr>
          <p:cNvPr id="13" name="ZoneTexte 6">
            <a:extLst>
              <a:ext uri="{FF2B5EF4-FFF2-40B4-BE49-F238E27FC236}">
                <a16:creationId xmlns:a16="http://schemas.microsoft.com/office/drawing/2014/main" id="{49924CA4-8643-B0BD-BCF0-0F00B2285071}"/>
              </a:ext>
            </a:extLst>
          </p:cNvPr>
          <p:cNvSpPr txBox="1"/>
          <p:nvPr/>
        </p:nvSpPr>
        <p:spPr>
          <a:xfrm>
            <a:off x="10342843" y="3602312"/>
            <a:ext cx="972409" cy="2539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050" dirty="0"/>
              <a:t>IL= </a:t>
            </a:r>
            <a:r>
              <a:rPr lang="en-US" sz="1050" dirty="0" err="1"/>
              <a:t>ILk</a:t>
            </a:r>
            <a:endParaRPr lang="fr-FR" sz="1050" dirty="0"/>
          </a:p>
        </p:txBody>
      </p:sp>
      <p:sp>
        <p:nvSpPr>
          <p:cNvPr id="15" name="ZoneTexte 47">
            <a:extLst>
              <a:ext uri="{FF2B5EF4-FFF2-40B4-BE49-F238E27FC236}">
                <a16:creationId xmlns:a16="http://schemas.microsoft.com/office/drawing/2014/main" id="{364F21A1-F5CF-4367-9A64-EB00ECDABEF6}"/>
              </a:ext>
            </a:extLst>
          </p:cNvPr>
          <p:cNvSpPr txBox="1"/>
          <p:nvPr/>
        </p:nvSpPr>
        <p:spPr>
          <a:xfrm>
            <a:off x="3707687" y="4314778"/>
            <a:ext cx="8484313" cy="261610"/>
          </a:xfrm>
          <a:prstGeom prst="rect">
            <a:avLst/>
          </a:prstGeom>
          <a:solidFill>
            <a:srgbClr val="ED7D31"/>
          </a:solidFill>
          <a:ln>
            <a:solidFill>
              <a:srgbClr val="00B05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100" dirty="0">
                <a:cs typeface="Arial"/>
              </a:rPr>
              <a:t>Optimized Lebesgues integration workflow minimizing M using error estimation, metric control, Cauchy sequence and fixed-point iteration</a:t>
            </a:r>
            <a:endParaRPr lang="fr-FR" sz="1100" dirty="0"/>
          </a:p>
        </p:txBody>
      </p:sp>
      <p:sp>
        <p:nvSpPr>
          <p:cNvPr id="16" name="ZoneTexte 10">
            <a:extLst>
              <a:ext uri="{FF2B5EF4-FFF2-40B4-BE49-F238E27FC236}">
                <a16:creationId xmlns:a16="http://schemas.microsoft.com/office/drawing/2014/main" id="{674A4D9A-7D3D-F8CE-29DB-91DCEF123285}"/>
              </a:ext>
            </a:extLst>
          </p:cNvPr>
          <p:cNvSpPr txBox="1"/>
          <p:nvPr/>
        </p:nvSpPr>
        <p:spPr>
          <a:xfrm>
            <a:off x="1" y="4828972"/>
            <a:ext cx="1610614" cy="156966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200" dirty="0">
                <a:cs typeface="Arial"/>
              </a:rPr>
              <a:t>Given k=0, </a:t>
            </a:r>
          </a:p>
          <a:p>
            <a:pPr algn="ctr"/>
            <a:r>
              <a:rPr lang="en-GB" sz="1200" dirty="0">
                <a:cs typeface="Arial"/>
              </a:rPr>
              <a:t>Init Mesh (3 pts), </a:t>
            </a:r>
          </a:p>
          <a:p>
            <a:pPr algn="ctr"/>
            <a:r>
              <a:rPr lang="en-GB" sz="1200" dirty="0">
                <a:cs typeface="Arial"/>
              </a:rPr>
              <a:t>Error target eps=0.01, </a:t>
            </a:r>
          </a:p>
          <a:p>
            <a:pPr algn="ctr"/>
            <a:r>
              <a:rPr lang="en-GB" sz="1200" dirty="0" err="1">
                <a:cs typeface="Arial"/>
              </a:rPr>
              <a:t>hmax</a:t>
            </a:r>
            <a:r>
              <a:rPr lang="en-GB" sz="1200" dirty="0">
                <a:cs typeface="Arial"/>
              </a:rPr>
              <a:t>=(R-L)/3,</a:t>
            </a:r>
          </a:p>
          <a:p>
            <a:pPr algn="ctr"/>
            <a:r>
              <a:rPr lang="en-GB" sz="1200" dirty="0" err="1">
                <a:cs typeface="Arial"/>
              </a:rPr>
              <a:t>hmin</a:t>
            </a:r>
            <a:r>
              <a:rPr lang="en-GB" sz="1200" dirty="0">
                <a:cs typeface="Arial"/>
              </a:rPr>
              <a:t>=(R-L)/1000,</a:t>
            </a:r>
          </a:p>
          <a:p>
            <a:pPr algn="ctr"/>
            <a:r>
              <a:rPr lang="en-GB" sz="1200" dirty="0">
                <a:cs typeface="Arial"/>
              </a:rPr>
              <a:t>function y=f(x) defined on interval (L,R)</a:t>
            </a:r>
            <a:endParaRPr lang="en-US" sz="1200" dirty="0">
              <a:cs typeface="Arial"/>
            </a:endParaRPr>
          </a:p>
        </p:txBody>
      </p:sp>
      <p:sp>
        <p:nvSpPr>
          <p:cNvPr id="17" name="ZoneTexte 3">
            <a:extLst>
              <a:ext uri="{FF2B5EF4-FFF2-40B4-BE49-F238E27FC236}">
                <a16:creationId xmlns:a16="http://schemas.microsoft.com/office/drawing/2014/main" id="{A17A53BA-E675-676C-C472-26EEFB86A65A}"/>
              </a:ext>
            </a:extLst>
          </p:cNvPr>
          <p:cNvSpPr txBox="1"/>
          <p:nvPr/>
        </p:nvSpPr>
        <p:spPr>
          <a:xfrm>
            <a:off x="1833899" y="5038549"/>
            <a:ext cx="1176546" cy="2616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100" dirty="0"/>
              <a:t>yi=f(xi) @  </a:t>
            </a:r>
            <a:r>
              <a:rPr lang="fr-FR" sz="1100" dirty="0" err="1"/>
              <a:t>Mesh</a:t>
            </a:r>
            <a:endParaRPr lang="fr-FR" sz="1100" dirty="0"/>
          </a:p>
        </p:txBody>
      </p:sp>
      <p:sp>
        <p:nvSpPr>
          <p:cNvPr id="18" name="ZoneTexte 6">
            <a:extLst>
              <a:ext uri="{FF2B5EF4-FFF2-40B4-BE49-F238E27FC236}">
                <a16:creationId xmlns:a16="http://schemas.microsoft.com/office/drawing/2014/main" id="{604A89C6-AA85-9C38-6E69-8F270D48395B}"/>
              </a:ext>
            </a:extLst>
          </p:cNvPr>
          <p:cNvSpPr txBox="1"/>
          <p:nvPr/>
        </p:nvSpPr>
        <p:spPr>
          <a:xfrm>
            <a:off x="3257637" y="5047047"/>
            <a:ext cx="895487" cy="4154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050" dirty="0" err="1"/>
              <a:t>Discrete</a:t>
            </a:r>
            <a:r>
              <a:rPr lang="fr-FR" sz="1050" dirty="0"/>
              <a:t> </a:t>
            </a:r>
            <a:r>
              <a:rPr lang="fr-FR" sz="1050" dirty="0" err="1"/>
              <a:t>Hessian</a:t>
            </a:r>
            <a:r>
              <a:rPr lang="fr-FR" sz="1050" dirty="0"/>
              <a:t>(</a:t>
            </a:r>
            <a:r>
              <a:rPr lang="fr-FR" sz="1050" dirty="0" err="1"/>
              <a:t>fh</a:t>
            </a:r>
            <a:r>
              <a:rPr lang="fr-FR" sz="1050" dirty="0"/>
              <a:t>)</a:t>
            </a:r>
          </a:p>
        </p:txBody>
      </p:sp>
      <p:sp>
        <p:nvSpPr>
          <p:cNvPr id="19" name="Flèche : droite 18">
            <a:extLst>
              <a:ext uri="{FF2B5EF4-FFF2-40B4-BE49-F238E27FC236}">
                <a16:creationId xmlns:a16="http://schemas.microsoft.com/office/drawing/2014/main" id="{B571AA71-405E-24A9-BA1F-F4044FA3F395}"/>
              </a:ext>
            </a:extLst>
          </p:cNvPr>
          <p:cNvSpPr/>
          <p:nvPr/>
        </p:nvSpPr>
        <p:spPr>
          <a:xfrm>
            <a:off x="1593510" y="5153156"/>
            <a:ext cx="240389" cy="678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20" name="Flèche : droite 19">
            <a:extLst>
              <a:ext uri="{FF2B5EF4-FFF2-40B4-BE49-F238E27FC236}">
                <a16:creationId xmlns:a16="http://schemas.microsoft.com/office/drawing/2014/main" id="{F0E8FBD3-9E11-2D76-FCE7-A6F2548D434F}"/>
              </a:ext>
            </a:extLst>
          </p:cNvPr>
          <p:cNvSpPr/>
          <p:nvPr/>
        </p:nvSpPr>
        <p:spPr>
          <a:xfrm>
            <a:off x="3029878" y="5135725"/>
            <a:ext cx="236735" cy="108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21" name="ZoneTexte 6">
            <a:extLst>
              <a:ext uri="{FF2B5EF4-FFF2-40B4-BE49-F238E27FC236}">
                <a16:creationId xmlns:a16="http://schemas.microsoft.com/office/drawing/2014/main" id="{74294AFB-BE61-AFC4-8793-79F8B34A0B96}"/>
              </a:ext>
            </a:extLst>
          </p:cNvPr>
          <p:cNvSpPr txBox="1"/>
          <p:nvPr/>
        </p:nvSpPr>
        <p:spPr>
          <a:xfrm>
            <a:off x="5708217" y="5063140"/>
            <a:ext cx="1119518" cy="5770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050" dirty="0" err="1"/>
              <a:t>Mesh</a:t>
            </a:r>
            <a:r>
              <a:rPr lang="fr-FR" sz="1050" dirty="0"/>
              <a:t> (</a:t>
            </a:r>
            <a:r>
              <a:rPr lang="fr-FR" sz="1050" dirty="0" err="1"/>
              <a:t>Nk</a:t>
            </a:r>
            <a:r>
              <a:rPr lang="fr-FR" sz="1050" dirty="0"/>
              <a:t>): </a:t>
            </a:r>
          </a:p>
          <a:p>
            <a:pPr algn="ctr"/>
            <a:r>
              <a:rPr lang="fr-FR" sz="1050" dirty="0"/>
              <a:t>Uniform hi in </a:t>
            </a:r>
            <a:r>
              <a:rPr lang="fr-FR" sz="1050" dirty="0" err="1"/>
              <a:t>Metric</a:t>
            </a:r>
            <a:endParaRPr lang="fr-FR" sz="1050" dirty="0"/>
          </a:p>
        </p:txBody>
      </p:sp>
      <p:sp>
        <p:nvSpPr>
          <p:cNvPr id="22" name="Flèche : droite 21">
            <a:extLst>
              <a:ext uri="{FF2B5EF4-FFF2-40B4-BE49-F238E27FC236}">
                <a16:creationId xmlns:a16="http://schemas.microsoft.com/office/drawing/2014/main" id="{AA8E5043-CC1C-85DF-6D68-2CAD50A43E4A}"/>
              </a:ext>
            </a:extLst>
          </p:cNvPr>
          <p:cNvSpPr/>
          <p:nvPr/>
        </p:nvSpPr>
        <p:spPr>
          <a:xfrm>
            <a:off x="4171105" y="5135725"/>
            <a:ext cx="236735" cy="108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24" name="Flèche : droite 23">
            <a:extLst>
              <a:ext uri="{FF2B5EF4-FFF2-40B4-BE49-F238E27FC236}">
                <a16:creationId xmlns:a16="http://schemas.microsoft.com/office/drawing/2014/main" id="{C51DDDCA-A4D7-5EEA-69D3-524C396567E5}"/>
              </a:ext>
            </a:extLst>
          </p:cNvPr>
          <p:cNvSpPr/>
          <p:nvPr/>
        </p:nvSpPr>
        <p:spPr>
          <a:xfrm>
            <a:off x="5518853" y="5155424"/>
            <a:ext cx="236735" cy="108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25" name="ZoneTexte 6">
            <a:extLst>
              <a:ext uri="{FF2B5EF4-FFF2-40B4-BE49-F238E27FC236}">
                <a16:creationId xmlns:a16="http://schemas.microsoft.com/office/drawing/2014/main" id="{730AD799-B460-C8B0-22CA-31A3EAE2A5C7}"/>
              </a:ext>
            </a:extLst>
          </p:cNvPr>
          <p:cNvSpPr txBox="1"/>
          <p:nvPr/>
        </p:nvSpPr>
        <p:spPr>
          <a:xfrm>
            <a:off x="7038043" y="4665606"/>
            <a:ext cx="1345553" cy="369332"/>
          </a:xfrm>
          <a:prstGeom prst="rect">
            <a:avLst/>
          </a:prstGeom>
          <a:solidFill>
            <a:srgbClr val="92D050"/>
          </a:solidFill>
          <a:ln>
            <a:solidFill>
              <a:srgbClr val="FF000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900" dirty="0"/>
              <a:t>In PDE : </a:t>
            </a:r>
            <a:r>
              <a:rPr lang="fr-FR" sz="900" dirty="0" err="1"/>
              <a:t>interpolate</a:t>
            </a:r>
            <a:r>
              <a:rPr lang="fr-FR" sz="900" dirty="0"/>
              <a:t> yi </a:t>
            </a:r>
            <a:r>
              <a:rPr lang="fr-FR" sz="900" dirty="0" err="1"/>
              <a:t>from</a:t>
            </a:r>
            <a:r>
              <a:rPr lang="fr-FR" sz="900" dirty="0"/>
              <a:t> </a:t>
            </a:r>
            <a:r>
              <a:rPr lang="fr-FR" sz="900" dirty="0" err="1"/>
              <a:t>old</a:t>
            </a:r>
            <a:r>
              <a:rPr lang="fr-FR" sz="900" dirty="0"/>
              <a:t> to new </a:t>
            </a:r>
            <a:r>
              <a:rPr lang="fr-FR" sz="900" dirty="0" err="1"/>
              <a:t>mesh</a:t>
            </a:r>
            <a:endParaRPr lang="fr-FR" sz="900" dirty="0"/>
          </a:p>
        </p:txBody>
      </p:sp>
      <p:sp>
        <p:nvSpPr>
          <p:cNvPr id="26" name="ZoneTexte 6">
            <a:extLst>
              <a:ext uri="{FF2B5EF4-FFF2-40B4-BE49-F238E27FC236}">
                <a16:creationId xmlns:a16="http://schemas.microsoft.com/office/drawing/2014/main" id="{201D4AFD-F45D-074C-DA92-333162025999}"/>
              </a:ext>
            </a:extLst>
          </p:cNvPr>
          <p:cNvSpPr txBox="1"/>
          <p:nvPr/>
        </p:nvSpPr>
        <p:spPr>
          <a:xfrm>
            <a:off x="4379902" y="5072735"/>
            <a:ext cx="1119518" cy="5770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050" dirty="0" err="1"/>
              <a:t>Metric</a:t>
            </a:r>
            <a:r>
              <a:rPr lang="fr-FR" sz="1050" dirty="0"/>
              <a:t> (</a:t>
            </a:r>
            <a:r>
              <a:rPr lang="fr-FR" sz="1050" dirty="0" err="1"/>
              <a:t>eps</a:t>
            </a:r>
            <a:r>
              <a:rPr lang="fr-FR" sz="1050" dirty="0"/>
              <a:t>, </a:t>
            </a:r>
            <a:r>
              <a:rPr lang="fr-FR" sz="1050" dirty="0" err="1"/>
              <a:t>Hessian</a:t>
            </a:r>
            <a:r>
              <a:rPr lang="fr-FR" sz="1050" dirty="0"/>
              <a:t>, </a:t>
            </a:r>
            <a:r>
              <a:rPr lang="fr-FR" sz="1050" dirty="0" err="1"/>
              <a:t>hmin</a:t>
            </a:r>
            <a:r>
              <a:rPr lang="fr-FR" sz="1050" dirty="0"/>
              <a:t>, </a:t>
            </a:r>
            <a:r>
              <a:rPr lang="fr-FR" sz="1050" dirty="0" err="1"/>
              <a:t>hmax</a:t>
            </a:r>
            <a:r>
              <a:rPr lang="fr-FR" sz="1050" dirty="0"/>
              <a:t>)</a:t>
            </a:r>
          </a:p>
        </p:txBody>
      </p:sp>
      <p:sp>
        <p:nvSpPr>
          <p:cNvPr id="27" name="Flèche : droite 26">
            <a:extLst>
              <a:ext uri="{FF2B5EF4-FFF2-40B4-BE49-F238E27FC236}">
                <a16:creationId xmlns:a16="http://schemas.microsoft.com/office/drawing/2014/main" id="{EE83DEFF-ABFD-2FEB-243C-2E4D230BA253}"/>
              </a:ext>
            </a:extLst>
          </p:cNvPr>
          <p:cNvSpPr/>
          <p:nvPr/>
        </p:nvSpPr>
        <p:spPr>
          <a:xfrm>
            <a:off x="6838403" y="5182638"/>
            <a:ext cx="236735" cy="108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28" name="ZoneTexte 6">
            <a:extLst>
              <a:ext uri="{FF2B5EF4-FFF2-40B4-BE49-F238E27FC236}">
                <a16:creationId xmlns:a16="http://schemas.microsoft.com/office/drawing/2014/main" id="{D58C45B9-F426-B8A8-572F-D928A1FC4AF2}"/>
              </a:ext>
            </a:extLst>
          </p:cNvPr>
          <p:cNvSpPr txBox="1"/>
          <p:nvPr/>
        </p:nvSpPr>
        <p:spPr>
          <a:xfrm>
            <a:off x="8543409" y="4811742"/>
            <a:ext cx="1754048" cy="5770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050" dirty="0"/>
              <a:t>Riemann </a:t>
            </a:r>
            <a:r>
              <a:rPr lang="fr-FR" sz="1050" dirty="0" err="1"/>
              <a:t>integral</a:t>
            </a:r>
            <a:r>
              <a:rPr lang="fr-FR" sz="1050" dirty="0"/>
              <a:t> on non </a:t>
            </a:r>
            <a:r>
              <a:rPr lang="fr-FR" sz="1050" dirty="0" err="1"/>
              <a:t>uniform</a:t>
            </a:r>
            <a:r>
              <a:rPr lang="fr-FR" sz="1050" dirty="0"/>
              <a:t> </a:t>
            </a:r>
            <a:r>
              <a:rPr lang="fr-FR" sz="1050" dirty="0" err="1"/>
              <a:t>mesh</a:t>
            </a:r>
            <a:r>
              <a:rPr lang="fr-FR" sz="1050" dirty="0"/>
              <a:t>:</a:t>
            </a:r>
          </a:p>
          <a:p>
            <a:pPr algn="ctr"/>
            <a:r>
              <a:rPr lang="fr-FR" sz="1050" dirty="0" err="1"/>
              <a:t>IL</a:t>
            </a:r>
            <a:r>
              <a:rPr lang="fr-FR" sz="1050" baseline="-25000" dirty="0" err="1"/>
              <a:t>k</a:t>
            </a:r>
            <a:r>
              <a:rPr lang="fr-FR" sz="1050" dirty="0"/>
              <a:t>= </a:t>
            </a:r>
            <a:r>
              <a:rPr lang="en-US" sz="1050" dirty="0" err="1"/>
              <a:t>Sum_Nk</a:t>
            </a:r>
            <a:r>
              <a:rPr lang="en-US" sz="1050" dirty="0"/>
              <a:t> hi * </a:t>
            </a:r>
            <a:r>
              <a:rPr lang="en-US" sz="1050" dirty="0" err="1"/>
              <a:t>yi</a:t>
            </a:r>
            <a:endParaRPr lang="fr-FR" sz="1050" dirty="0"/>
          </a:p>
        </p:txBody>
      </p:sp>
      <p:sp>
        <p:nvSpPr>
          <p:cNvPr id="29" name="Flèche : droite 28">
            <a:extLst>
              <a:ext uri="{FF2B5EF4-FFF2-40B4-BE49-F238E27FC236}">
                <a16:creationId xmlns:a16="http://schemas.microsoft.com/office/drawing/2014/main" id="{7EF706E9-1449-E691-A548-A6D92FCE852F}"/>
              </a:ext>
            </a:extLst>
          </p:cNvPr>
          <p:cNvSpPr/>
          <p:nvPr/>
        </p:nvSpPr>
        <p:spPr>
          <a:xfrm rot="5400000">
            <a:off x="9156825" y="5530941"/>
            <a:ext cx="418470" cy="108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30" name="Flèche : droite 29">
            <a:extLst>
              <a:ext uri="{FF2B5EF4-FFF2-40B4-BE49-F238E27FC236}">
                <a16:creationId xmlns:a16="http://schemas.microsoft.com/office/drawing/2014/main" id="{E9CE78D8-A4D2-3CDF-E5CC-3F57CC96F2BA}"/>
              </a:ext>
            </a:extLst>
          </p:cNvPr>
          <p:cNvSpPr/>
          <p:nvPr/>
        </p:nvSpPr>
        <p:spPr>
          <a:xfrm>
            <a:off x="9985439" y="6094036"/>
            <a:ext cx="236734" cy="1683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31" name="Losange 30">
            <a:extLst>
              <a:ext uri="{FF2B5EF4-FFF2-40B4-BE49-F238E27FC236}">
                <a16:creationId xmlns:a16="http://schemas.microsoft.com/office/drawing/2014/main" id="{95698D6E-34C3-350D-CA2D-E93649BA023B}"/>
              </a:ext>
            </a:extLst>
          </p:cNvPr>
          <p:cNvSpPr/>
          <p:nvPr/>
        </p:nvSpPr>
        <p:spPr>
          <a:xfrm>
            <a:off x="8738409" y="5780710"/>
            <a:ext cx="1209143" cy="799702"/>
          </a:xfrm>
          <a:prstGeom prst="diamond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35056270-32AF-EF35-2A7C-C94587F02473}"/>
              </a:ext>
            </a:extLst>
          </p:cNvPr>
          <p:cNvSpPr txBox="1"/>
          <p:nvPr/>
        </p:nvSpPr>
        <p:spPr>
          <a:xfrm>
            <a:off x="8805029" y="5891762"/>
            <a:ext cx="1075901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900" dirty="0"/>
              <a:t>If (k&gt;1 and </a:t>
            </a:r>
          </a:p>
          <a:p>
            <a:pPr algn="ctr"/>
            <a:r>
              <a:rPr lang="fr-FR" sz="900" dirty="0"/>
              <a:t>| </a:t>
            </a:r>
            <a:r>
              <a:rPr lang="fr-FR" sz="900" dirty="0" err="1"/>
              <a:t>IL</a:t>
            </a:r>
            <a:r>
              <a:rPr lang="fr-FR" sz="900" baseline="-25000" dirty="0" err="1"/>
              <a:t>k</a:t>
            </a:r>
            <a:r>
              <a:rPr lang="fr-FR" sz="900" dirty="0"/>
              <a:t> – IL</a:t>
            </a:r>
            <a:r>
              <a:rPr lang="fr-FR" sz="900" baseline="-25000" dirty="0"/>
              <a:t>k-1 </a:t>
            </a:r>
            <a:r>
              <a:rPr lang="fr-FR" sz="900" dirty="0"/>
              <a:t>| &lt; TOL)</a:t>
            </a:r>
          </a:p>
          <a:p>
            <a:pPr algn="ctr"/>
            <a:r>
              <a:rPr lang="fr-FR" sz="900" dirty="0"/>
              <a:t>or k&gt;</a:t>
            </a:r>
            <a:r>
              <a:rPr lang="fr-FR" sz="900" dirty="0" err="1"/>
              <a:t>kmax</a:t>
            </a:r>
            <a:endParaRPr lang="fr-FR" sz="900" dirty="0"/>
          </a:p>
        </p:txBody>
      </p:sp>
      <p:sp>
        <p:nvSpPr>
          <p:cNvPr id="34" name="Flèche : droite 33">
            <a:extLst>
              <a:ext uri="{FF2B5EF4-FFF2-40B4-BE49-F238E27FC236}">
                <a16:creationId xmlns:a16="http://schemas.microsoft.com/office/drawing/2014/main" id="{13BC17D5-32AE-E862-90D0-DEDEDB09B543}"/>
              </a:ext>
            </a:extLst>
          </p:cNvPr>
          <p:cNvSpPr/>
          <p:nvPr/>
        </p:nvSpPr>
        <p:spPr>
          <a:xfrm rot="10800000">
            <a:off x="8488149" y="6094035"/>
            <a:ext cx="236734" cy="1683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36" name="Flèche : virage 35">
            <a:extLst>
              <a:ext uri="{FF2B5EF4-FFF2-40B4-BE49-F238E27FC236}">
                <a16:creationId xmlns:a16="http://schemas.microsoft.com/office/drawing/2014/main" id="{200059B0-422A-4978-B0FF-4F5B219592FC}"/>
              </a:ext>
            </a:extLst>
          </p:cNvPr>
          <p:cNvSpPr/>
          <p:nvPr/>
        </p:nvSpPr>
        <p:spPr>
          <a:xfrm rot="16200000">
            <a:off x="5074036" y="4179084"/>
            <a:ext cx="577080" cy="3252822"/>
          </a:xfrm>
          <a:prstGeom prst="bentArrow">
            <a:avLst>
              <a:gd name="adj1" fmla="val 3259"/>
              <a:gd name="adj2" fmla="val 10879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7" name="ZoneTexte 31">
            <a:extLst>
              <a:ext uri="{FF2B5EF4-FFF2-40B4-BE49-F238E27FC236}">
                <a16:creationId xmlns:a16="http://schemas.microsoft.com/office/drawing/2014/main" id="{8B0DFA3F-8C84-00A1-BBCC-88D21D8F7F5D}"/>
              </a:ext>
            </a:extLst>
          </p:cNvPr>
          <p:cNvSpPr txBox="1"/>
          <p:nvPr/>
        </p:nvSpPr>
        <p:spPr>
          <a:xfrm>
            <a:off x="9956864" y="5846118"/>
            <a:ext cx="348421" cy="2000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700">
                <a:cs typeface="Arial"/>
              </a:rPr>
              <a:t>YES</a:t>
            </a:r>
            <a:endParaRPr lang="fr-FR" sz="1050"/>
          </a:p>
        </p:txBody>
      </p:sp>
      <p:sp>
        <p:nvSpPr>
          <p:cNvPr id="38" name="ZoneTexte 32">
            <a:extLst>
              <a:ext uri="{FF2B5EF4-FFF2-40B4-BE49-F238E27FC236}">
                <a16:creationId xmlns:a16="http://schemas.microsoft.com/office/drawing/2014/main" id="{C34D287B-2F8C-2EE0-C603-B449433D52AE}"/>
              </a:ext>
            </a:extLst>
          </p:cNvPr>
          <p:cNvSpPr txBox="1"/>
          <p:nvPr/>
        </p:nvSpPr>
        <p:spPr>
          <a:xfrm>
            <a:off x="8455839" y="5883334"/>
            <a:ext cx="377357" cy="2000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700">
                <a:cs typeface="Arial"/>
              </a:rPr>
              <a:t>NO</a:t>
            </a:r>
            <a:endParaRPr lang="fr-FR" sz="1050"/>
          </a:p>
        </p:txBody>
      </p:sp>
      <p:sp>
        <p:nvSpPr>
          <p:cNvPr id="40" name="ZoneTexte 3">
            <a:extLst>
              <a:ext uri="{FF2B5EF4-FFF2-40B4-BE49-F238E27FC236}">
                <a16:creationId xmlns:a16="http://schemas.microsoft.com/office/drawing/2014/main" id="{34CE65F8-B4FD-8DBB-F9A0-F431A82F310B}"/>
              </a:ext>
            </a:extLst>
          </p:cNvPr>
          <p:cNvSpPr txBox="1"/>
          <p:nvPr/>
        </p:nvSpPr>
        <p:spPr>
          <a:xfrm>
            <a:off x="6998089" y="5892388"/>
            <a:ext cx="1476534" cy="6001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100" dirty="0"/>
              <a:t>New adaptation </a:t>
            </a:r>
            <a:r>
              <a:rPr lang="fr-FR" sz="1100" dirty="0" err="1"/>
              <a:t>iteration</a:t>
            </a:r>
            <a:r>
              <a:rPr lang="fr-FR" sz="1100" dirty="0"/>
              <a:t> :</a:t>
            </a:r>
          </a:p>
          <a:p>
            <a:pPr algn="ctr"/>
            <a:r>
              <a:rPr lang="fr-FR" sz="1100" dirty="0"/>
              <a:t>k=</a:t>
            </a:r>
            <a:r>
              <a:rPr lang="fr-FR" sz="1100" dirty="0">
                <a:sym typeface="Wingdings" panose="05000000000000000000" pitchFamily="2" charset="2"/>
              </a:rPr>
              <a:t>k+1</a:t>
            </a:r>
          </a:p>
        </p:txBody>
      </p:sp>
      <p:sp>
        <p:nvSpPr>
          <p:cNvPr id="41" name="ZoneTexte 6">
            <a:extLst>
              <a:ext uri="{FF2B5EF4-FFF2-40B4-BE49-F238E27FC236}">
                <a16:creationId xmlns:a16="http://schemas.microsoft.com/office/drawing/2014/main" id="{DACF4648-D432-68B9-FFF7-FCAEC0771FDE}"/>
              </a:ext>
            </a:extLst>
          </p:cNvPr>
          <p:cNvSpPr txBox="1"/>
          <p:nvPr/>
        </p:nvSpPr>
        <p:spPr>
          <a:xfrm>
            <a:off x="10226014" y="6041065"/>
            <a:ext cx="972409" cy="2539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050" dirty="0"/>
              <a:t>IL= </a:t>
            </a:r>
            <a:r>
              <a:rPr lang="en-US" sz="1050" dirty="0" err="1"/>
              <a:t>ILk</a:t>
            </a:r>
            <a:endParaRPr lang="fr-FR" sz="1050" dirty="0"/>
          </a:p>
        </p:txBody>
      </p:sp>
      <p:sp>
        <p:nvSpPr>
          <p:cNvPr id="42" name="ZoneTexte 3">
            <a:extLst>
              <a:ext uri="{FF2B5EF4-FFF2-40B4-BE49-F238E27FC236}">
                <a16:creationId xmlns:a16="http://schemas.microsoft.com/office/drawing/2014/main" id="{B3B9B561-35CD-4425-7310-15030E2E8AC5}"/>
              </a:ext>
            </a:extLst>
          </p:cNvPr>
          <p:cNvSpPr txBox="1"/>
          <p:nvPr/>
        </p:nvSpPr>
        <p:spPr>
          <a:xfrm>
            <a:off x="7085806" y="5099665"/>
            <a:ext cx="1222032" cy="2616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100" dirty="0"/>
              <a:t>yi=f(xi) @  </a:t>
            </a:r>
            <a:r>
              <a:rPr lang="fr-FR" sz="1100" dirty="0" err="1"/>
              <a:t>Mesh</a:t>
            </a:r>
            <a:endParaRPr lang="fr-FR" sz="1100" dirty="0"/>
          </a:p>
        </p:txBody>
      </p:sp>
      <p:sp>
        <p:nvSpPr>
          <p:cNvPr id="58" name="Flèche : droite 57">
            <a:extLst>
              <a:ext uri="{FF2B5EF4-FFF2-40B4-BE49-F238E27FC236}">
                <a16:creationId xmlns:a16="http://schemas.microsoft.com/office/drawing/2014/main" id="{72A9A973-78F0-8A6E-9BFD-54138BF7F939}"/>
              </a:ext>
            </a:extLst>
          </p:cNvPr>
          <p:cNvSpPr/>
          <p:nvPr/>
        </p:nvSpPr>
        <p:spPr>
          <a:xfrm>
            <a:off x="8287673" y="5209797"/>
            <a:ext cx="236735" cy="108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1947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ZoneTexte 47">
            <a:extLst>
              <a:ext uri="{FF2B5EF4-FFF2-40B4-BE49-F238E27FC236}">
                <a16:creationId xmlns:a16="http://schemas.microsoft.com/office/drawing/2014/main" id="{364F21A1-F5CF-4367-9A64-EB00ECDABEF6}"/>
              </a:ext>
            </a:extLst>
          </p:cNvPr>
          <p:cNvSpPr txBox="1"/>
          <p:nvPr/>
        </p:nvSpPr>
        <p:spPr>
          <a:xfrm>
            <a:off x="0" y="89123"/>
            <a:ext cx="12124944" cy="261610"/>
          </a:xfrm>
          <a:prstGeom prst="rect">
            <a:avLst/>
          </a:prstGeom>
          <a:solidFill>
            <a:srgbClr val="ED7D31"/>
          </a:solidFill>
          <a:ln>
            <a:solidFill>
              <a:srgbClr val="00B05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100" dirty="0">
                <a:cs typeface="Arial"/>
              </a:rPr>
              <a:t>Solving ADRS with </a:t>
            </a:r>
            <a:r>
              <a:rPr lang="en-GB" sz="1100" dirty="0" err="1">
                <a:cs typeface="Arial"/>
              </a:rPr>
              <a:t>Lebesgues</a:t>
            </a:r>
            <a:r>
              <a:rPr lang="en-GB" sz="1100" dirty="0">
                <a:cs typeface="Arial"/>
              </a:rPr>
              <a:t> iterative workflow using error estimation, metric control, interpolation on background mesh, Cauchy sequence and contracting fixed-point iteration</a:t>
            </a:r>
            <a:endParaRPr lang="fr-FR" sz="1100" dirty="0"/>
          </a:p>
        </p:txBody>
      </p:sp>
      <p:sp>
        <p:nvSpPr>
          <p:cNvPr id="16" name="ZoneTexte 10">
            <a:extLst>
              <a:ext uri="{FF2B5EF4-FFF2-40B4-BE49-F238E27FC236}">
                <a16:creationId xmlns:a16="http://schemas.microsoft.com/office/drawing/2014/main" id="{674A4D9A-7D3D-F8CE-29DB-91DCEF123285}"/>
              </a:ext>
            </a:extLst>
          </p:cNvPr>
          <p:cNvSpPr txBox="1"/>
          <p:nvPr/>
        </p:nvSpPr>
        <p:spPr>
          <a:xfrm>
            <a:off x="1" y="448996"/>
            <a:ext cx="1610614" cy="138499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050" dirty="0">
                <a:cs typeface="Arial"/>
              </a:rPr>
              <a:t>Given k=0, </a:t>
            </a:r>
          </a:p>
          <a:p>
            <a:pPr algn="ctr"/>
            <a:r>
              <a:rPr lang="en-GB" sz="1050" dirty="0">
                <a:cs typeface="Arial"/>
              </a:rPr>
              <a:t>Init Mesh0 (3 pts) of interval (L,R), </a:t>
            </a:r>
          </a:p>
          <a:p>
            <a:pPr algn="ctr"/>
            <a:r>
              <a:rPr lang="en-GB" sz="1050" dirty="0">
                <a:cs typeface="Arial"/>
              </a:rPr>
              <a:t>Error target eps=0.01, </a:t>
            </a:r>
          </a:p>
          <a:p>
            <a:pPr algn="ctr"/>
            <a:r>
              <a:rPr lang="en-GB" sz="1050" dirty="0" err="1">
                <a:cs typeface="Arial"/>
              </a:rPr>
              <a:t>hmax</a:t>
            </a:r>
            <a:r>
              <a:rPr lang="en-GB" sz="1050" dirty="0">
                <a:cs typeface="Arial"/>
              </a:rPr>
              <a:t>=(R-L)/3,</a:t>
            </a:r>
          </a:p>
          <a:p>
            <a:pPr algn="ctr"/>
            <a:r>
              <a:rPr lang="en-GB" sz="1050" dirty="0" err="1">
                <a:cs typeface="Arial"/>
              </a:rPr>
              <a:t>hmin</a:t>
            </a:r>
            <a:r>
              <a:rPr lang="en-GB" sz="1050" dirty="0">
                <a:cs typeface="Arial"/>
              </a:rPr>
              <a:t>=(R-L)/1000,</a:t>
            </a:r>
          </a:p>
          <a:p>
            <a:pPr algn="ctr"/>
            <a:r>
              <a:rPr lang="en-GB" sz="1050" dirty="0">
                <a:cs typeface="Arial"/>
              </a:rPr>
              <a:t>Y=ADRS</a:t>
            </a:r>
            <a:r>
              <a:rPr lang="en-GB" sz="1050" baseline="30000" dirty="0">
                <a:cs typeface="Arial"/>
              </a:rPr>
              <a:t>-1</a:t>
            </a:r>
            <a:r>
              <a:rPr lang="en-GB" sz="1050" dirty="0">
                <a:cs typeface="Arial"/>
              </a:rPr>
              <a:t>(F) code</a:t>
            </a:r>
          </a:p>
          <a:p>
            <a:pPr algn="ctr"/>
            <a:r>
              <a:rPr lang="en-GB" sz="1050" dirty="0">
                <a:cs typeface="Arial"/>
              </a:rPr>
              <a:t>TOL Cauchy</a:t>
            </a:r>
            <a:endParaRPr lang="en-US" sz="1050" dirty="0">
              <a:cs typeface="Arial"/>
            </a:endParaRPr>
          </a:p>
        </p:txBody>
      </p:sp>
      <p:sp>
        <p:nvSpPr>
          <p:cNvPr id="17" name="ZoneTexte 3">
            <a:extLst>
              <a:ext uri="{FF2B5EF4-FFF2-40B4-BE49-F238E27FC236}">
                <a16:creationId xmlns:a16="http://schemas.microsoft.com/office/drawing/2014/main" id="{A17A53BA-E675-676C-C472-26EEFB86A65A}"/>
              </a:ext>
            </a:extLst>
          </p:cNvPr>
          <p:cNvSpPr txBox="1"/>
          <p:nvPr/>
        </p:nvSpPr>
        <p:spPr>
          <a:xfrm>
            <a:off x="1833899" y="658573"/>
            <a:ext cx="1176546" cy="4308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100" dirty="0"/>
              <a:t>Y0=</a:t>
            </a:r>
            <a:r>
              <a:rPr lang="en-GB" sz="1100" dirty="0">
                <a:cs typeface="Arial"/>
              </a:rPr>
              <a:t> ADRS</a:t>
            </a:r>
            <a:r>
              <a:rPr lang="en-GB" sz="1100" baseline="30000" dirty="0">
                <a:cs typeface="Arial"/>
              </a:rPr>
              <a:t>-1</a:t>
            </a:r>
            <a:r>
              <a:rPr lang="en-GB" sz="1100" dirty="0">
                <a:cs typeface="Arial"/>
              </a:rPr>
              <a:t>(F0)</a:t>
            </a:r>
            <a:r>
              <a:rPr lang="fr-FR" sz="1100" dirty="0"/>
              <a:t> @  </a:t>
            </a:r>
            <a:r>
              <a:rPr lang="fr-FR" sz="1100" dirty="0" err="1"/>
              <a:t>Mesh</a:t>
            </a:r>
            <a:endParaRPr lang="fr-FR" sz="1100" dirty="0"/>
          </a:p>
        </p:txBody>
      </p:sp>
      <p:sp>
        <p:nvSpPr>
          <p:cNvPr id="18" name="ZoneTexte 6">
            <a:extLst>
              <a:ext uri="{FF2B5EF4-FFF2-40B4-BE49-F238E27FC236}">
                <a16:creationId xmlns:a16="http://schemas.microsoft.com/office/drawing/2014/main" id="{604A89C6-AA85-9C38-6E69-8F270D48395B}"/>
              </a:ext>
            </a:extLst>
          </p:cNvPr>
          <p:cNvSpPr txBox="1"/>
          <p:nvPr/>
        </p:nvSpPr>
        <p:spPr>
          <a:xfrm>
            <a:off x="3257637" y="667071"/>
            <a:ext cx="895487" cy="4154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050" dirty="0" err="1"/>
              <a:t>Discrete</a:t>
            </a:r>
            <a:r>
              <a:rPr lang="fr-FR" sz="1050" dirty="0"/>
              <a:t> </a:t>
            </a:r>
            <a:r>
              <a:rPr lang="fr-FR" sz="1050" dirty="0" err="1"/>
              <a:t>Hessian</a:t>
            </a:r>
            <a:r>
              <a:rPr lang="fr-FR" sz="1050" dirty="0"/>
              <a:t>(</a:t>
            </a:r>
            <a:r>
              <a:rPr lang="fr-FR" sz="1050" dirty="0" err="1"/>
              <a:t>Yk</a:t>
            </a:r>
            <a:r>
              <a:rPr lang="fr-FR" sz="1050" dirty="0"/>
              <a:t>)</a:t>
            </a:r>
          </a:p>
        </p:txBody>
      </p:sp>
      <p:sp>
        <p:nvSpPr>
          <p:cNvPr id="19" name="Flèche : droite 18">
            <a:extLst>
              <a:ext uri="{FF2B5EF4-FFF2-40B4-BE49-F238E27FC236}">
                <a16:creationId xmlns:a16="http://schemas.microsoft.com/office/drawing/2014/main" id="{B571AA71-405E-24A9-BA1F-F4044FA3F395}"/>
              </a:ext>
            </a:extLst>
          </p:cNvPr>
          <p:cNvSpPr/>
          <p:nvPr/>
        </p:nvSpPr>
        <p:spPr>
          <a:xfrm>
            <a:off x="1593510" y="773180"/>
            <a:ext cx="240389" cy="678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20" name="Flèche : droite 19">
            <a:extLst>
              <a:ext uri="{FF2B5EF4-FFF2-40B4-BE49-F238E27FC236}">
                <a16:creationId xmlns:a16="http://schemas.microsoft.com/office/drawing/2014/main" id="{F0E8FBD3-9E11-2D76-FCE7-A6F2548D434F}"/>
              </a:ext>
            </a:extLst>
          </p:cNvPr>
          <p:cNvSpPr/>
          <p:nvPr/>
        </p:nvSpPr>
        <p:spPr>
          <a:xfrm>
            <a:off x="3029878" y="755749"/>
            <a:ext cx="236735" cy="108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21" name="ZoneTexte 6">
            <a:extLst>
              <a:ext uri="{FF2B5EF4-FFF2-40B4-BE49-F238E27FC236}">
                <a16:creationId xmlns:a16="http://schemas.microsoft.com/office/drawing/2014/main" id="{74294AFB-BE61-AFC4-8793-79F8B34A0B96}"/>
              </a:ext>
            </a:extLst>
          </p:cNvPr>
          <p:cNvSpPr txBox="1"/>
          <p:nvPr/>
        </p:nvSpPr>
        <p:spPr>
          <a:xfrm>
            <a:off x="5708217" y="683164"/>
            <a:ext cx="1119518" cy="5770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050" dirty="0" err="1"/>
              <a:t>Mesh_k</a:t>
            </a:r>
            <a:r>
              <a:rPr lang="fr-FR" sz="1050" dirty="0"/>
              <a:t> : </a:t>
            </a:r>
          </a:p>
          <a:p>
            <a:pPr algn="ctr"/>
            <a:r>
              <a:rPr lang="fr-FR" sz="1050" dirty="0"/>
              <a:t>Uniform h in </a:t>
            </a:r>
            <a:r>
              <a:rPr lang="fr-FR" sz="1050" dirty="0" err="1"/>
              <a:t>Metric</a:t>
            </a:r>
            <a:r>
              <a:rPr lang="fr-FR" sz="1050" dirty="0"/>
              <a:t> </a:t>
            </a:r>
            <a:r>
              <a:rPr lang="fr-FR" sz="1050" dirty="0" err="1"/>
              <a:t>Mk</a:t>
            </a:r>
            <a:endParaRPr lang="fr-FR" sz="1050" dirty="0"/>
          </a:p>
        </p:txBody>
      </p:sp>
      <p:sp>
        <p:nvSpPr>
          <p:cNvPr id="22" name="Flèche : droite 21">
            <a:extLst>
              <a:ext uri="{FF2B5EF4-FFF2-40B4-BE49-F238E27FC236}">
                <a16:creationId xmlns:a16="http://schemas.microsoft.com/office/drawing/2014/main" id="{AA8E5043-CC1C-85DF-6D68-2CAD50A43E4A}"/>
              </a:ext>
            </a:extLst>
          </p:cNvPr>
          <p:cNvSpPr/>
          <p:nvPr/>
        </p:nvSpPr>
        <p:spPr>
          <a:xfrm>
            <a:off x="4171105" y="755749"/>
            <a:ext cx="236735" cy="108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24" name="Flèche : droite 23">
            <a:extLst>
              <a:ext uri="{FF2B5EF4-FFF2-40B4-BE49-F238E27FC236}">
                <a16:creationId xmlns:a16="http://schemas.microsoft.com/office/drawing/2014/main" id="{C51DDDCA-A4D7-5EEA-69D3-524C396567E5}"/>
              </a:ext>
            </a:extLst>
          </p:cNvPr>
          <p:cNvSpPr/>
          <p:nvPr/>
        </p:nvSpPr>
        <p:spPr>
          <a:xfrm>
            <a:off x="5518853" y="775448"/>
            <a:ext cx="236735" cy="108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25" name="ZoneTexte 6">
            <a:extLst>
              <a:ext uri="{FF2B5EF4-FFF2-40B4-BE49-F238E27FC236}">
                <a16:creationId xmlns:a16="http://schemas.microsoft.com/office/drawing/2014/main" id="{730AD799-B460-C8B0-22CA-31A3EAE2A5C7}"/>
              </a:ext>
            </a:extLst>
          </p:cNvPr>
          <p:cNvSpPr txBox="1"/>
          <p:nvPr/>
        </p:nvSpPr>
        <p:spPr>
          <a:xfrm>
            <a:off x="8570705" y="713237"/>
            <a:ext cx="1345553" cy="507831"/>
          </a:xfrm>
          <a:prstGeom prst="rect">
            <a:avLst/>
          </a:prstGeom>
          <a:solidFill>
            <a:srgbClr val="92D050"/>
          </a:solidFill>
          <a:ln>
            <a:solidFill>
              <a:srgbClr val="FF000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900" b="1" dirty="0" err="1"/>
              <a:t>YBk</a:t>
            </a:r>
            <a:r>
              <a:rPr lang="fr-FR" sz="900" b="1" dirty="0"/>
              <a:t>: </a:t>
            </a:r>
            <a:r>
              <a:rPr lang="fr-FR" sz="900" b="1" dirty="0" err="1"/>
              <a:t>interpolate</a:t>
            </a:r>
            <a:r>
              <a:rPr lang="fr-FR" sz="900" b="1" dirty="0"/>
              <a:t> </a:t>
            </a:r>
            <a:r>
              <a:rPr lang="fr-FR" sz="900" b="1" dirty="0" err="1"/>
              <a:t>Yk</a:t>
            </a:r>
            <a:r>
              <a:rPr lang="fr-FR" sz="900" b="1" dirty="0"/>
              <a:t> </a:t>
            </a:r>
            <a:r>
              <a:rPr lang="fr-FR" sz="900" b="1" dirty="0" err="1"/>
              <a:t>from</a:t>
            </a:r>
            <a:r>
              <a:rPr lang="fr-FR" sz="900" b="1" dirty="0"/>
              <a:t> </a:t>
            </a:r>
            <a:r>
              <a:rPr lang="fr-FR" sz="900" b="1" dirty="0" err="1"/>
              <a:t>Mesh_k</a:t>
            </a:r>
            <a:r>
              <a:rPr lang="fr-FR" sz="900" b="1" dirty="0"/>
              <a:t> to Background </a:t>
            </a:r>
            <a:r>
              <a:rPr lang="fr-FR" sz="900" b="1" dirty="0" err="1"/>
              <a:t>mesh</a:t>
            </a:r>
            <a:endParaRPr lang="fr-FR" sz="900" b="1" dirty="0"/>
          </a:p>
        </p:txBody>
      </p:sp>
      <p:sp>
        <p:nvSpPr>
          <p:cNvPr id="26" name="ZoneTexte 6">
            <a:extLst>
              <a:ext uri="{FF2B5EF4-FFF2-40B4-BE49-F238E27FC236}">
                <a16:creationId xmlns:a16="http://schemas.microsoft.com/office/drawing/2014/main" id="{201D4AFD-F45D-074C-DA92-333162025999}"/>
              </a:ext>
            </a:extLst>
          </p:cNvPr>
          <p:cNvSpPr txBox="1"/>
          <p:nvPr/>
        </p:nvSpPr>
        <p:spPr>
          <a:xfrm>
            <a:off x="4379902" y="692759"/>
            <a:ext cx="1119518" cy="5770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050" dirty="0" err="1"/>
              <a:t>Metric</a:t>
            </a:r>
            <a:r>
              <a:rPr lang="fr-FR" sz="1050" dirty="0"/>
              <a:t> </a:t>
            </a:r>
            <a:r>
              <a:rPr lang="fr-FR" sz="1050" dirty="0" err="1"/>
              <a:t>Mk</a:t>
            </a:r>
            <a:r>
              <a:rPr lang="fr-FR" sz="1050" dirty="0"/>
              <a:t> (</a:t>
            </a:r>
            <a:r>
              <a:rPr lang="fr-FR" sz="1050" dirty="0" err="1"/>
              <a:t>eps</a:t>
            </a:r>
            <a:r>
              <a:rPr lang="fr-FR" sz="1050" dirty="0"/>
              <a:t>, </a:t>
            </a:r>
            <a:r>
              <a:rPr lang="fr-FR" sz="1050" dirty="0" err="1"/>
              <a:t>Hessian</a:t>
            </a:r>
            <a:r>
              <a:rPr lang="fr-FR" sz="1050" dirty="0"/>
              <a:t>, </a:t>
            </a:r>
            <a:r>
              <a:rPr lang="fr-FR" sz="1050" dirty="0" err="1"/>
              <a:t>hmin</a:t>
            </a:r>
            <a:r>
              <a:rPr lang="fr-FR" sz="1050" dirty="0"/>
              <a:t>, </a:t>
            </a:r>
            <a:r>
              <a:rPr lang="fr-FR" sz="1050" dirty="0" err="1"/>
              <a:t>hmax</a:t>
            </a:r>
            <a:r>
              <a:rPr lang="fr-FR" sz="1050" dirty="0"/>
              <a:t>)</a:t>
            </a:r>
          </a:p>
        </p:txBody>
      </p:sp>
      <p:sp>
        <p:nvSpPr>
          <p:cNvPr id="27" name="Flèche : droite 26">
            <a:extLst>
              <a:ext uri="{FF2B5EF4-FFF2-40B4-BE49-F238E27FC236}">
                <a16:creationId xmlns:a16="http://schemas.microsoft.com/office/drawing/2014/main" id="{EE83DEFF-ABFD-2FEB-243C-2E4D230BA253}"/>
              </a:ext>
            </a:extLst>
          </p:cNvPr>
          <p:cNvSpPr/>
          <p:nvPr/>
        </p:nvSpPr>
        <p:spPr>
          <a:xfrm>
            <a:off x="6838403" y="802662"/>
            <a:ext cx="236735" cy="108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29" name="Flèche : droite 28">
            <a:extLst>
              <a:ext uri="{FF2B5EF4-FFF2-40B4-BE49-F238E27FC236}">
                <a16:creationId xmlns:a16="http://schemas.microsoft.com/office/drawing/2014/main" id="{7EF706E9-1449-E691-A548-A6D92FCE852F}"/>
              </a:ext>
            </a:extLst>
          </p:cNvPr>
          <p:cNvSpPr/>
          <p:nvPr/>
        </p:nvSpPr>
        <p:spPr>
          <a:xfrm rot="5400000">
            <a:off x="8979873" y="1372761"/>
            <a:ext cx="418470" cy="108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30" name="Flèche : droite 29">
            <a:extLst>
              <a:ext uri="{FF2B5EF4-FFF2-40B4-BE49-F238E27FC236}">
                <a16:creationId xmlns:a16="http://schemas.microsoft.com/office/drawing/2014/main" id="{E9CE78D8-A4D2-3CDF-E5CC-3F57CC96F2BA}"/>
              </a:ext>
            </a:extLst>
          </p:cNvPr>
          <p:cNvSpPr/>
          <p:nvPr/>
        </p:nvSpPr>
        <p:spPr>
          <a:xfrm>
            <a:off x="9924479" y="2692468"/>
            <a:ext cx="236734" cy="1683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31" name="Losange 30">
            <a:extLst>
              <a:ext uri="{FF2B5EF4-FFF2-40B4-BE49-F238E27FC236}">
                <a16:creationId xmlns:a16="http://schemas.microsoft.com/office/drawing/2014/main" id="{95698D6E-34C3-350D-CA2D-E93649BA023B}"/>
              </a:ext>
            </a:extLst>
          </p:cNvPr>
          <p:cNvSpPr/>
          <p:nvPr/>
        </p:nvSpPr>
        <p:spPr>
          <a:xfrm>
            <a:off x="8652558" y="2363616"/>
            <a:ext cx="1209143" cy="799702"/>
          </a:xfrm>
          <a:prstGeom prst="diamond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35056270-32AF-EF35-2A7C-C94587F02473}"/>
              </a:ext>
            </a:extLst>
          </p:cNvPr>
          <p:cNvSpPr txBox="1"/>
          <p:nvPr/>
        </p:nvSpPr>
        <p:spPr>
          <a:xfrm>
            <a:off x="8789789" y="2490194"/>
            <a:ext cx="1075901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900" dirty="0"/>
              <a:t>If (k&gt;1 and </a:t>
            </a:r>
          </a:p>
          <a:p>
            <a:pPr algn="ctr"/>
            <a:r>
              <a:rPr lang="fr-FR" sz="900" dirty="0"/>
              <a:t>Ik &lt; TOL)</a:t>
            </a:r>
          </a:p>
          <a:p>
            <a:pPr algn="ctr"/>
            <a:r>
              <a:rPr lang="fr-FR" sz="900" dirty="0"/>
              <a:t>or k&gt;</a:t>
            </a:r>
            <a:r>
              <a:rPr lang="fr-FR" sz="900" dirty="0" err="1"/>
              <a:t>kmax</a:t>
            </a:r>
            <a:endParaRPr lang="fr-FR" sz="900" dirty="0"/>
          </a:p>
        </p:txBody>
      </p:sp>
      <p:sp>
        <p:nvSpPr>
          <p:cNvPr id="34" name="Flèche : droite 33">
            <a:extLst>
              <a:ext uri="{FF2B5EF4-FFF2-40B4-BE49-F238E27FC236}">
                <a16:creationId xmlns:a16="http://schemas.microsoft.com/office/drawing/2014/main" id="{13BC17D5-32AE-E862-90D0-DEDEDB09B543}"/>
              </a:ext>
            </a:extLst>
          </p:cNvPr>
          <p:cNvSpPr/>
          <p:nvPr/>
        </p:nvSpPr>
        <p:spPr>
          <a:xfrm rot="10800000">
            <a:off x="8472909" y="2692467"/>
            <a:ext cx="236734" cy="1683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36" name="Flèche : virage 35">
            <a:extLst>
              <a:ext uri="{FF2B5EF4-FFF2-40B4-BE49-F238E27FC236}">
                <a16:creationId xmlns:a16="http://schemas.microsoft.com/office/drawing/2014/main" id="{200059B0-422A-4978-B0FF-4F5B219592FC}"/>
              </a:ext>
            </a:extLst>
          </p:cNvPr>
          <p:cNvSpPr/>
          <p:nvPr/>
        </p:nvSpPr>
        <p:spPr>
          <a:xfrm rot="16200000">
            <a:off x="4336663" y="293784"/>
            <a:ext cx="1715285" cy="3418836"/>
          </a:xfrm>
          <a:prstGeom prst="bentArrow">
            <a:avLst>
              <a:gd name="adj1" fmla="val 2167"/>
              <a:gd name="adj2" fmla="val 10879"/>
              <a:gd name="adj3" fmla="val 25361"/>
              <a:gd name="adj4" fmla="val 4772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7" name="ZoneTexte 31">
            <a:extLst>
              <a:ext uri="{FF2B5EF4-FFF2-40B4-BE49-F238E27FC236}">
                <a16:creationId xmlns:a16="http://schemas.microsoft.com/office/drawing/2014/main" id="{8B0DFA3F-8C84-00A1-BBCC-88D21D8F7F5D}"/>
              </a:ext>
            </a:extLst>
          </p:cNvPr>
          <p:cNvSpPr txBox="1"/>
          <p:nvPr/>
        </p:nvSpPr>
        <p:spPr>
          <a:xfrm>
            <a:off x="9807967" y="2424159"/>
            <a:ext cx="348421" cy="2000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700">
                <a:cs typeface="Arial"/>
              </a:rPr>
              <a:t>YES</a:t>
            </a:r>
            <a:endParaRPr lang="fr-FR" sz="1050"/>
          </a:p>
        </p:txBody>
      </p:sp>
      <p:sp>
        <p:nvSpPr>
          <p:cNvPr id="38" name="ZoneTexte 32">
            <a:extLst>
              <a:ext uri="{FF2B5EF4-FFF2-40B4-BE49-F238E27FC236}">
                <a16:creationId xmlns:a16="http://schemas.microsoft.com/office/drawing/2014/main" id="{C34D287B-2F8C-2EE0-C603-B449433D52AE}"/>
              </a:ext>
            </a:extLst>
          </p:cNvPr>
          <p:cNvSpPr txBox="1"/>
          <p:nvPr/>
        </p:nvSpPr>
        <p:spPr>
          <a:xfrm>
            <a:off x="8440599" y="2481766"/>
            <a:ext cx="377357" cy="2000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700">
                <a:cs typeface="Arial"/>
              </a:rPr>
              <a:t>NO</a:t>
            </a:r>
            <a:endParaRPr lang="fr-FR" sz="1050"/>
          </a:p>
        </p:txBody>
      </p:sp>
      <p:sp>
        <p:nvSpPr>
          <p:cNvPr id="40" name="ZoneTexte 3">
            <a:extLst>
              <a:ext uri="{FF2B5EF4-FFF2-40B4-BE49-F238E27FC236}">
                <a16:creationId xmlns:a16="http://schemas.microsoft.com/office/drawing/2014/main" id="{34CE65F8-B4FD-8DBB-F9A0-F431A82F310B}"/>
              </a:ext>
            </a:extLst>
          </p:cNvPr>
          <p:cNvSpPr txBox="1"/>
          <p:nvPr/>
        </p:nvSpPr>
        <p:spPr>
          <a:xfrm>
            <a:off x="6982849" y="2490820"/>
            <a:ext cx="1476534" cy="6001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100" dirty="0"/>
              <a:t>New adaptation </a:t>
            </a:r>
            <a:r>
              <a:rPr lang="fr-FR" sz="1100" dirty="0" err="1"/>
              <a:t>iteration</a:t>
            </a:r>
            <a:r>
              <a:rPr lang="fr-FR" sz="1100" dirty="0"/>
              <a:t> :</a:t>
            </a:r>
          </a:p>
          <a:p>
            <a:pPr algn="ctr"/>
            <a:r>
              <a:rPr lang="fr-FR" sz="1100" dirty="0"/>
              <a:t>k=</a:t>
            </a:r>
            <a:r>
              <a:rPr lang="fr-FR" sz="1100" dirty="0">
                <a:sym typeface="Wingdings" panose="05000000000000000000" pitchFamily="2" charset="2"/>
              </a:rPr>
              <a:t>k+1</a:t>
            </a:r>
          </a:p>
        </p:txBody>
      </p:sp>
      <p:sp>
        <p:nvSpPr>
          <p:cNvPr id="41" name="ZoneTexte 6">
            <a:extLst>
              <a:ext uri="{FF2B5EF4-FFF2-40B4-BE49-F238E27FC236}">
                <a16:creationId xmlns:a16="http://schemas.microsoft.com/office/drawing/2014/main" id="{DACF4648-D432-68B9-FFF7-FCAEC0771FDE}"/>
              </a:ext>
            </a:extLst>
          </p:cNvPr>
          <p:cNvSpPr txBox="1"/>
          <p:nvPr/>
        </p:nvSpPr>
        <p:spPr>
          <a:xfrm>
            <a:off x="10210774" y="2639497"/>
            <a:ext cx="972409" cy="4154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050" dirty="0"/>
              <a:t>Best solution</a:t>
            </a:r>
          </a:p>
          <a:p>
            <a:pPr algn="ctr"/>
            <a:r>
              <a:rPr lang="fr-FR" sz="1050" dirty="0" err="1"/>
              <a:t>Yk</a:t>
            </a:r>
            <a:endParaRPr lang="fr-FR" sz="1050" dirty="0"/>
          </a:p>
        </p:txBody>
      </p:sp>
      <p:sp>
        <p:nvSpPr>
          <p:cNvPr id="42" name="ZoneTexte 3">
            <a:extLst>
              <a:ext uri="{FF2B5EF4-FFF2-40B4-BE49-F238E27FC236}">
                <a16:creationId xmlns:a16="http://schemas.microsoft.com/office/drawing/2014/main" id="{B3B9B561-35CD-4425-7310-15030E2E8AC5}"/>
              </a:ext>
            </a:extLst>
          </p:cNvPr>
          <p:cNvSpPr txBox="1"/>
          <p:nvPr/>
        </p:nvSpPr>
        <p:spPr>
          <a:xfrm>
            <a:off x="7085806" y="719689"/>
            <a:ext cx="1222032" cy="4308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100" dirty="0" err="1"/>
              <a:t>Yk</a:t>
            </a:r>
            <a:r>
              <a:rPr lang="fr-FR" sz="1100" dirty="0"/>
              <a:t>=</a:t>
            </a:r>
            <a:r>
              <a:rPr lang="en-GB" sz="1100" dirty="0">
                <a:cs typeface="Arial"/>
              </a:rPr>
              <a:t> ADRS</a:t>
            </a:r>
            <a:r>
              <a:rPr lang="en-GB" sz="1100" baseline="30000" dirty="0">
                <a:cs typeface="Arial"/>
              </a:rPr>
              <a:t>-1</a:t>
            </a:r>
            <a:r>
              <a:rPr lang="en-GB" sz="1100" dirty="0">
                <a:cs typeface="Arial"/>
              </a:rPr>
              <a:t>(</a:t>
            </a:r>
            <a:r>
              <a:rPr lang="en-GB" sz="1100" dirty="0" err="1">
                <a:cs typeface="Arial"/>
              </a:rPr>
              <a:t>Fk</a:t>
            </a:r>
            <a:r>
              <a:rPr lang="en-GB" sz="1100" dirty="0">
                <a:cs typeface="Arial"/>
              </a:rPr>
              <a:t>)</a:t>
            </a:r>
            <a:r>
              <a:rPr lang="fr-FR" sz="1100" dirty="0"/>
              <a:t> @  </a:t>
            </a:r>
            <a:r>
              <a:rPr lang="fr-FR" sz="1100" dirty="0" err="1"/>
              <a:t>Mesh_k</a:t>
            </a:r>
            <a:endParaRPr lang="fr-FR" sz="1100" dirty="0"/>
          </a:p>
        </p:txBody>
      </p:sp>
      <p:sp>
        <p:nvSpPr>
          <p:cNvPr id="58" name="Flèche : droite 57">
            <a:extLst>
              <a:ext uri="{FF2B5EF4-FFF2-40B4-BE49-F238E27FC236}">
                <a16:creationId xmlns:a16="http://schemas.microsoft.com/office/drawing/2014/main" id="{72A9A973-78F0-8A6E-9BFD-54138BF7F939}"/>
              </a:ext>
            </a:extLst>
          </p:cNvPr>
          <p:cNvSpPr/>
          <p:nvPr/>
        </p:nvSpPr>
        <p:spPr>
          <a:xfrm>
            <a:off x="8287673" y="829821"/>
            <a:ext cx="236735" cy="108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78" name="ZoneTexte 6">
            <a:extLst>
              <a:ext uri="{FF2B5EF4-FFF2-40B4-BE49-F238E27FC236}">
                <a16:creationId xmlns:a16="http://schemas.microsoft.com/office/drawing/2014/main" id="{30EAFE72-C76A-4B0D-9F9E-40CE4087ACE4}"/>
              </a:ext>
            </a:extLst>
          </p:cNvPr>
          <p:cNvSpPr txBox="1"/>
          <p:nvPr/>
        </p:nvSpPr>
        <p:spPr>
          <a:xfrm>
            <a:off x="8570705" y="1651388"/>
            <a:ext cx="1345553" cy="230832"/>
          </a:xfrm>
          <a:prstGeom prst="rect">
            <a:avLst/>
          </a:prstGeom>
          <a:solidFill>
            <a:srgbClr val="92D050"/>
          </a:solidFill>
          <a:ln>
            <a:solidFill>
              <a:srgbClr val="FF000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900" b="1" dirty="0"/>
              <a:t>Ik = ||</a:t>
            </a:r>
            <a:r>
              <a:rPr lang="fr-FR" sz="900" b="1" dirty="0" err="1"/>
              <a:t>YBk</a:t>
            </a:r>
            <a:r>
              <a:rPr lang="fr-FR" sz="900" b="1" dirty="0"/>
              <a:t> – YBk-1||</a:t>
            </a:r>
            <a:r>
              <a:rPr lang="fr-FR" sz="900" b="1" baseline="-25000" dirty="0"/>
              <a:t>*</a:t>
            </a:r>
          </a:p>
        </p:txBody>
      </p:sp>
      <p:sp>
        <p:nvSpPr>
          <p:cNvPr id="80" name="Flèche : droite 79">
            <a:extLst>
              <a:ext uri="{FF2B5EF4-FFF2-40B4-BE49-F238E27FC236}">
                <a16:creationId xmlns:a16="http://schemas.microsoft.com/office/drawing/2014/main" id="{6251FCAE-B200-4A68-8683-0D448537C6D6}"/>
              </a:ext>
            </a:extLst>
          </p:cNvPr>
          <p:cNvSpPr/>
          <p:nvPr/>
        </p:nvSpPr>
        <p:spPr>
          <a:xfrm rot="5400000">
            <a:off x="8980732" y="2083785"/>
            <a:ext cx="418470" cy="108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28" name="ZoneTexte 47">
            <a:extLst>
              <a:ext uri="{FF2B5EF4-FFF2-40B4-BE49-F238E27FC236}">
                <a16:creationId xmlns:a16="http://schemas.microsoft.com/office/drawing/2014/main" id="{216F3159-925E-406F-8D2F-191E72E3104E}"/>
              </a:ext>
            </a:extLst>
          </p:cNvPr>
          <p:cNvSpPr txBox="1"/>
          <p:nvPr/>
        </p:nvSpPr>
        <p:spPr>
          <a:xfrm>
            <a:off x="-1" y="3424051"/>
            <a:ext cx="12124944" cy="430887"/>
          </a:xfrm>
          <a:prstGeom prst="rect">
            <a:avLst/>
          </a:prstGeom>
          <a:solidFill>
            <a:srgbClr val="ED7D31"/>
          </a:solidFill>
          <a:ln>
            <a:solidFill>
              <a:srgbClr val="00B05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100" dirty="0">
                <a:cs typeface="Arial"/>
              </a:rPr>
              <a:t>Solving ADRS with </a:t>
            </a:r>
            <a:r>
              <a:rPr lang="en-GB" sz="1100" dirty="0" err="1">
                <a:cs typeface="Arial"/>
              </a:rPr>
              <a:t>Lebesgues</a:t>
            </a:r>
            <a:r>
              <a:rPr lang="en-GB" sz="1100" dirty="0">
                <a:cs typeface="Arial"/>
              </a:rPr>
              <a:t> iterative workflow using error estimation, metric control, interpolation between successive meshes and on background mesh, Cauchy sequence and contracting fixed-point iteration</a:t>
            </a:r>
            <a:endParaRPr lang="fr-FR" sz="1100" dirty="0"/>
          </a:p>
        </p:txBody>
      </p:sp>
      <p:sp>
        <p:nvSpPr>
          <p:cNvPr id="33" name="ZoneTexte 10">
            <a:extLst>
              <a:ext uri="{FF2B5EF4-FFF2-40B4-BE49-F238E27FC236}">
                <a16:creationId xmlns:a16="http://schemas.microsoft.com/office/drawing/2014/main" id="{C3F536A7-3A05-49DE-98F3-3621A71D5885}"/>
              </a:ext>
            </a:extLst>
          </p:cNvPr>
          <p:cNvSpPr txBox="1"/>
          <p:nvPr/>
        </p:nvSpPr>
        <p:spPr>
          <a:xfrm>
            <a:off x="0" y="3985092"/>
            <a:ext cx="1610614" cy="138499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050" dirty="0">
                <a:cs typeface="Arial"/>
              </a:rPr>
              <a:t>Given k=0, </a:t>
            </a:r>
          </a:p>
          <a:p>
            <a:pPr algn="ctr"/>
            <a:r>
              <a:rPr lang="en-GB" sz="1050" dirty="0">
                <a:cs typeface="Arial"/>
              </a:rPr>
              <a:t>Init Mesh0 (3 pts) of interval (L,R), </a:t>
            </a:r>
          </a:p>
          <a:p>
            <a:pPr algn="ctr"/>
            <a:r>
              <a:rPr lang="en-GB" sz="1050" dirty="0">
                <a:cs typeface="Arial"/>
              </a:rPr>
              <a:t>Error target eps=0.01, </a:t>
            </a:r>
          </a:p>
          <a:p>
            <a:pPr algn="ctr"/>
            <a:r>
              <a:rPr lang="en-GB" sz="1050" dirty="0" err="1">
                <a:cs typeface="Arial"/>
              </a:rPr>
              <a:t>hmax</a:t>
            </a:r>
            <a:r>
              <a:rPr lang="en-GB" sz="1050" dirty="0">
                <a:cs typeface="Arial"/>
              </a:rPr>
              <a:t>=(R-L)/3,</a:t>
            </a:r>
          </a:p>
          <a:p>
            <a:pPr algn="ctr"/>
            <a:r>
              <a:rPr lang="en-GB" sz="1050" dirty="0" err="1">
                <a:cs typeface="Arial"/>
              </a:rPr>
              <a:t>hmin</a:t>
            </a:r>
            <a:r>
              <a:rPr lang="en-GB" sz="1050" dirty="0">
                <a:cs typeface="Arial"/>
              </a:rPr>
              <a:t>=(R-L)/1000,</a:t>
            </a:r>
          </a:p>
          <a:p>
            <a:pPr algn="ctr"/>
            <a:r>
              <a:rPr lang="en-GB" sz="1050" dirty="0">
                <a:cs typeface="Arial"/>
              </a:rPr>
              <a:t>Y=ADRS</a:t>
            </a:r>
            <a:r>
              <a:rPr lang="en-GB" sz="1050" baseline="30000" dirty="0">
                <a:cs typeface="Arial"/>
              </a:rPr>
              <a:t>-1</a:t>
            </a:r>
            <a:r>
              <a:rPr lang="en-GB" sz="1050" dirty="0">
                <a:cs typeface="Arial"/>
              </a:rPr>
              <a:t>(F) code</a:t>
            </a:r>
          </a:p>
          <a:p>
            <a:pPr algn="ctr"/>
            <a:r>
              <a:rPr lang="en-GB" sz="1050" dirty="0">
                <a:cs typeface="Arial"/>
              </a:rPr>
              <a:t>TOL Cauchy</a:t>
            </a:r>
            <a:endParaRPr lang="en-US" sz="1050" dirty="0">
              <a:cs typeface="Arial"/>
            </a:endParaRPr>
          </a:p>
        </p:txBody>
      </p:sp>
      <p:sp>
        <p:nvSpPr>
          <p:cNvPr id="35" name="ZoneTexte 3">
            <a:extLst>
              <a:ext uri="{FF2B5EF4-FFF2-40B4-BE49-F238E27FC236}">
                <a16:creationId xmlns:a16="http://schemas.microsoft.com/office/drawing/2014/main" id="{30A25814-AC0C-4532-AAE5-934BFF2113EE}"/>
              </a:ext>
            </a:extLst>
          </p:cNvPr>
          <p:cNvSpPr txBox="1"/>
          <p:nvPr/>
        </p:nvSpPr>
        <p:spPr>
          <a:xfrm>
            <a:off x="1833898" y="4194669"/>
            <a:ext cx="1108433" cy="4308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100" dirty="0"/>
              <a:t>Y0=</a:t>
            </a:r>
            <a:r>
              <a:rPr lang="en-GB" sz="1100" dirty="0">
                <a:cs typeface="Arial"/>
              </a:rPr>
              <a:t> ADRS</a:t>
            </a:r>
            <a:r>
              <a:rPr lang="en-GB" sz="1100" baseline="30000" dirty="0">
                <a:cs typeface="Arial"/>
              </a:rPr>
              <a:t>-1</a:t>
            </a:r>
            <a:r>
              <a:rPr lang="en-GB" sz="1100" dirty="0">
                <a:cs typeface="Arial"/>
              </a:rPr>
              <a:t>(F0)</a:t>
            </a:r>
            <a:r>
              <a:rPr lang="fr-FR" sz="1100" dirty="0"/>
              <a:t> @  </a:t>
            </a:r>
            <a:r>
              <a:rPr lang="fr-FR" sz="1100" dirty="0" err="1"/>
              <a:t>Mesh</a:t>
            </a:r>
            <a:endParaRPr lang="fr-FR" sz="1100" dirty="0"/>
          </a:p>
        </p:txBody>
      </p:sp>
      <p:sp>
        <p:nvSpPr>
          <p:cNvPr id="39" name="ZoneTexte 6">
            <a:extLst>
              <a:ext uri="{FF2B5EF4-FFF2-40B4-BE49-F238E27FC236}">
                <a16:creationId xmlns:a16="http://schemas.microsoft.com/office/drawing/2014/main" id="{C5592AE9-BDC9-4AD5-A799-440E7A17F24E}"/>
              </a:ext>
            </a:extLst>
          </p:cNvPr>
          <p:cNvSpPr txBox="1"/>
          <p:nvPr/>
        </p:nvSpPr>
        <p:spPr>
          <a:xfrm>
            <a:off x="3183896" y="4203167"/>
            <a:ext cx="895487" cy="4154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050" dirty="0" err="1"/>
              <a:t>Discrete</a:t>
            </a:r>
            <a:r>
              <a:rPr lang="fr-FR" sz="1050" dirty="0"/>
              <a:t> </a:t>
            </a:r>
            <a:r>
              <a:rPr lang="fr-FR" sz="1050" dirty="0" err="1"/>
              <a:t>Hessian</a:t>
            </a:r>
            <a:r>
              <a:rPr lang="fr-FR" sz="1050" dirty="0"/>
              <a:t>(</a:t>
            </a:r>
            <a:r>
              <a:rPr lang="fr-FR" sz="1050" dirty="0" err="1"/>
              <a:t>Yk</a:t>
            </a:r>
            <a:r>
              <a:rPr lang="fr-FR" sz="1050" dirty="0"/>
              <a:t>)</a:t>
            </a:r>
          </a:p>
        </p:txBody>
      </p:sp>
      <p:sp>
        <p:nvSpPr>
          <p:cNvPr id="43" name="Flèche : droite 42">
            <a:extLst>
              <a:ext uri="{FF2B5EF4-FFF2-40B4-BE49-F238E27FC236}">
                <a16:creationId xmlns:a16="http://schemas.microsoft.com/office/drawing/2014/main" id="{A8EF5FE3-FA0A-474A-BF2B-32C9623BC7A9}"/>
              </a:ext>
            </a:extLst>
          </p:cNvPr>
          <p:cNvSpPr/>
          <p:nvPr/>
        </p:nvSpPr>
        <p:spPr>
          <a:xfrm>
            <a:off x="1593509" y="4309276"/>
            <a:ext cx="240389" cy="678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44" name="Flèche : droite 43">
            <a:extLst>
              <a:ext uri="{FF2B5EF4-FFF2-40B4-BE49-F238E27FC236}">
                <a16:creationId xmlns:a16="http://schemas.microsoft.com/office/drawing/2014/main" id="{A29932DB-6785-4518-9347-0FC915CF812D}"/>
              </a:ext>
            </a:extLst>
          </p:cNvPr>
          <p:cNvSpPr/>
          <p:nvPr/>
        </p:nvSpPr>
        <p:spPr>
          <a:xfrm>
            <a:off x="2956137" y="4291845"/>
            <a:ext cx="236735" cy="108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45" name="ZoneTexte 6">
            <a:extLst>
              <a:ext uri="{FF2B5EF4-FFF2-40B4-BE49-F238E27FC236}">
                <a16:creationId xmlns:a16="http://schemas.microsoft.com/office/drawing/2014/main" id="{71282E60-93D1-47ED-9BC5-96471082FB87}"/>
              </a:ext>
            </a:extLst>
          </p:cNvPr>
          <p:cNvSpPr txBox="1"/>
          <p:nvPr/>
        </p:nvSpPr>
        <p:spPr>
          <a:xfrm>
            <a:off x="5708216" y="4219260"/>
            <a:ext cx="878248" cy="5770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050" dirty="0" err="1"/>
              <a:t>Mesh_k</a:t>
            </a:r>
            <a:r>
              <a:rPr lang="fr-FR" sz="1050" dirty="0"/>
              <a:t> : </a:t>
            </a:r>
          </a:p>
          <a:p>
            <a:pPr algn="ctr"/>
            <a:r>
              <a:rPr lang="fr-FR" sz="1050" dirty="0"/>
              <a:t>Uniform h in </a:t>
            </a:r>
            <a:r>
              <a:rPr lang="fr-FR" sz="1050" dirty="0" err="1"/>
              <a:t>Metric</a:t>
            </a:r>
            <a:r>
              <a:rPr lang="fr-FR" sz="1050" dirty="0"/>
              <a:t> </a:t>
            </a:r>
            <a:r>
              <a:rPr lang="fr-FR" sz="1050" dirty="0" err="1"/>
              <a:t>Mk</a:t>
            </a:r>
            <a:endParaRPr lang="fr-FR" sz="1050" dirty="0"/>
          </a:p>
        </p:txBody>
      </p:sp>
      <p:sp>
        <p:nvSpPr>
          <p:cNvPr id="46" name="Flèche : droite 45">
            <a:extLst>
              <a:ext uri="{FF2B5EF4-FFF2-40B4-BE49-F238E27FC236}">
                <a16:creationId xmlns:a16="http://schemas.microsoft.com/office/drawing/2014/main" id="{8F651CCA-6AC8-4C12-ACD5-84AE6FE702B1}"/>
              </a:ext>
            </a:extLst>
          </p:cNvPr>
          <p:cNvSpPr/>
          <p:nvPr/>
        </p:nvSpPr>
        <p:spPr>
          <a:xfrm>
            <a:off x="4097364" y="4291845"/>
            <a:ext cx="236735" cy="108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47" name="Flèche : droite 46">
            <a:extLst>
              <a:ext uri="{FF2B5EF4-FFF2-40B4-BE49-F238E27FC236}">
                <a16:creationId xmlns:a16="http://schemas.microsoft.com/office/drawing/2014/main" id="{7EAA4153-9416-4FEE-9285-03F9F240419B}"/>
              </a:ext>
            </a:extLst>
          </p:cNvPr>
          <p:cNvSpPr/>
          <p:nvPr/>
        </p:nvSpPr>
        <p:spPr>
          <a:xfrm>
            <a:off x="5467234" y="4311544"/>
            <a:ext cx="236735" cy="108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48" name="ZoneTexte 6">
            <a:extLst>
              <a:ext uri="{FF2B5EF4-FFF2-40B4-BE49-F238E27FC236}">
                <a16:creationId xmlns:a16="http://schemas.microsoft.com/office/drawing/2014/main" id="{B42C766D-CBC3-4D3D-8FF2-9BF4E4C3AE45}"/>
              </a:ext>
            </a:extLst>
          </p:cNvPr>
          <p:cNvSpPr txBox="1"/>
          <p:nvPr/>
        </p:nvSpPr>
        <p:spPr>
          <a:xfrm>
            <a:off x="9895994" y="4249333"/>
            <a:ext cx="1345553" cy="507831"/>
          </a:xfrm>
          <a:prstGeom prst="rect">
            <a:avLst/>
          </a:prstGeom>
          <a:solidFill>
            <a:srgbClr val="92D050"/>
          </a:solidFill>
          <a:ln>
            <a:solidFill>
              <a:srgbClr val="FF000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900" b="1" dirty="0" err="1"/>
              <a:t>YBk</a:t>
            </a:r>
            <a:r>
              <a:rPr lang="fr-FR" sz="900" b="1" dirty="0"/>
              <a:t>: </a:t>
            </a:r>
            <a:r>
              <a:rPr lang="fr-FR" sz="900" b="1" dirty="0" err="1"/>
              <a:t>interpolate</a:t>
            </a:r>
            <a:r>
              <a:rPr lang="fr-FR" sz="900" b="1" dirty="0"/>
              <a:t> </a:t>
            </a:r>
            <a:r>
              <a:rPr lang="fr-FR" sz="900" b="1" dirty="0" err="1"/>
              <a:t>Yk</a:t>
            </a:r>
            <a:r>
              <a:rPr lang="fr-FR" sz="900" b="1" dirty="0"/>
              <a:t> </a:t>
            </a:r>
            <a:r>
              <a:rPr lang="fr-FR" sz="900" b="1" dirty="0" err="1"/>
              <a:t>from</a:t>
            </a:r>
            <a:r>
              <a:rPr lang="fr-FR" sz="900" b="1" dirty="0"/>
              <a:t> </a:t>
            </a:r>
            <a:r>
              <a:rPr lang="fr-FR" sz="900" b="1" dirty="0" err="1"/>
              <a:t>Mesh_k</a:t>
            </a:r>
            <a:r>
              <a:rPr lang="fr-FR" sz="900" b="1" dirty="0"/>
              <a:t> to Background </a:t>
            </a:r>
            <a:r>
              <a:rPr lang="fr-FR" sz="900" b="1" dirty="0" err="1"/>
              <a:t>mesh</a:t>
            </a:r>
            <a:endParaRPr lang="fr-FR" sz="900" b="1" dirty="0"/>
          </a:p>
        </p:txBody>
      </p:sp>
      <p:sp>
        <p:nvSpPr>
          <p:cNvPr id="49" name="ZoneTexte 6">
            <a:extLst>
              <a:ext uri="{FF2B5EF4-FFF2-40B4-BE49-F238E27FC236}">
                <a16:creationId xmlns:a16="http://schemas.microsoft.com/office/drawing/2014/main" id="{19551600-D694-4FD6-A0A1-481A31229B2D}"/>
              </a:ext>
            </a:extLst>
          </p:cNvPr>
          <p:cNvSpPr txBox="1"/>
          <p:nvPr/>
        </p:nvSpPr>
        <p:spPr>
          <a:xfrm>
            <a:off x="4343031" y="4228855"/>
            <a:ext cx="1119518" cy="5770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050" dirty="0" err="1"/>
              <a:t>Metric</a:t>
            </a:r>
            <a:r>
              <a:rPr lang="fr-FR" sz="1050" dirty="0"/>
              <a:t> </a:t>
            </a:r>
            <a:r>
              <a:rPr lang="fr-FR" sz="1050" dirty="0" err="1"/>
              <a:t>Mk</a:t>
            </a:r>
            <a:r>
              <a:rPr lang="fr-FR" sz="1050" dirty="0"/>
              <a:t> (</a:t>
            </a:r>
            <a:r>
              <a:rPr lang="fr-FR" sz="1050" dirty="0" err="1"/>
              <a:t>eps</a:t>
            </a:r>
            <a:r>
              <a:rPr lang="fr-FR" sz="1050" dirty="0"/>
              <a:t>, </a:t>
            </a:r>
            <a:r>
              <a:rPr lang="fr-FR" sz="1050" dirty="0" err="1"/>
              <a:t>Hessian</a:t>
            </a:r>
            <a:r>
              <a:rPr lang="fr-FR" sz="1050" dirty="0"/>
              <a:t>, </a:t>
            </a:r>
            <a:r>
              <a:rPr lang="fr-FR" sz="1050" dirty="0" err="1"/>
              <a:t>hmin</a:t>
            </a:r>
            <a:r>
              <a:rPr lang="fr-FR" sz="1050" dirty="0"/>
              <a:t>, </a:t>
            </a:r>
            <a:r>
              <a:rPr lang="fr-FR" sz="1050" dirty="0" err="1"/>
              <a:t>hmax</a:t>
            </a:r>
            <a:r>
              <a:rPr lang="fr-FR" sz="1050" dirty="0"/>
              <a:t>)</a:t>
            </a:r>
          </a:p>
        </p:txBody>
      </p:sp>
      <p:sp>
        <p:nvSpPr>
          <p:cNvPr id="50" name="Flèche : droite 49">
            <a:extLst>
              <a:ext uri="{FF2B5EF4-FFF2-40B4-BE49-F238E27FC236}">
                <a16:creationId xmlns:a16="http://schemas.microsoft.com/office/drawing/2014/main" id="{1763EB43-3D04-431D-BB14-80A31A0AE034}"/>
              </a:ext>
            </a:extLst>
          </p:cNvPr>
          <p:cNvSpPr/>
          <p:nvPr/>
        </p:nvSpPr>
        <p:spPr>
          <a:xfrm>
            <a:off x="6578498" y="4347846"/>
            <a:ext cx="236735" cy="108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51" name="Flèche : droite 50">
            <a:extLst>
              <a:ext uri="{FF2B5EF4-FFF2-40B4-BE49-F238E27FC236}">
                <a16:creationId xmlns:a16="http://schemas.microsoft.com/office/drawing/2014/main" id="{03D71666-C8CA-4AB2-B96C-7A9BE65F2CA5}"/>
              </a:ext>
            </a:extLst>
          </p:cNvPr>
          <p:cNvSpPr/>
          <p:nvPr/>
        </p:nvSpPr>
        <p:spPr>
          <a:xfrm rot="5400000">
            <a:off x="10305162" y="4908857"/>
            <a:ext cx="418470" cy="108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52" name="Flèche : droite 51">
            <a:extLst>
              <a:ext uri="{FF2B5EF4-FFF2-40B4-BE49-F238E27FC236}">
                <a16:creationId xmlns:a16="http://schemas.microsoft.com/office/drawing/2014/main" id="{85D43281-30D2-494F-B5ED-95B3F6FD98D7}"/>
              </a:ext>
            </a:extLst>
          </p:cNvPr>
          <p:cNvSpPr/>
          <p:nvPr/>
        </p:nvSpPr>
        <p:spPr>
          <a:xfrm>
            <a:off x="10866310" y="6228564"/>
            <a:ext cx="236734" cy="1683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53" name="Losange 52">
            <a:extLst>
              <a:ext uri="{FF2B5EF4-FFF2-40B4-BE49-F238E27FC236}">
                <a16:creationId xmlns:a16="http://schemas.microsoft.com/office/drawing/2014/main" id="{8CF878BF-16C3-4E20-BDC2-E7B86692E6C8}"/>
              </a:ext>
            </a:extLst>
          </p:cNvPr>
          <p:cNvSpPr/>
          <p:nvPr/>
        </p:nvSpPr>
        <p:spPr>
          <a:xfrm>
            <a:off x="9662386" y="5907354"/>
            <a:ext cx="1209143" cy="799702"/>
          </a:xfrm>
          <a:prstGeom prst="diamond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C9A6D5F2-3F0B-48A1-888B-559274E972E1}"/>
              </a:ext>
            </a:extLst>
          </p:cNvPr>
          <p:cNvSpPr txBox="1"/>
          <p:nvPr/>
        </p:nvSpPr>
        <p:spPr>
          <a:xfrm>
            <a:off x="9731620" y="6026290"/>
            <a:ext cx="1075901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900" dirty="0"/>
              <a:t>If (k&gt;1 and </a:t>
            </a:r>
          </a:p>
          <a:p>
            <a:pPr algn="ctr"/>
            <a:r>
              <a:rPr lang="fr-FR" sz="900" dirty="0"/>
              <a:t>Ik &lt; TOL)</a:t>
            </a:r>
          </a:p>
          <a:p>
            <a:pPr algn="ctr"/>
            <a:r>
              <a:rPr lang="fr-FR" sz="900" dirty="0"/>
              <a:t>or k&gt;</a:t>
            </a:r>
            <a:r>
              <a:rPr lang="fr-FR" sz="900" dirty="0" err="1"/>
              <a:t>kmax</a:t>
            </a:r>
            <a:endParaRPr lang="fr-FR" sz="900" dirty="0"/>
          </a:p>
        </p:txBody>
      </p:sp>
      <p:sp>
        <p:nvSpPr>
          <p:cNvPr id="55" name="Flèche : droite 54">
            <a:extLst>
              <a:ext uri="{FF2B5EF4-FFF2-40B4-BE49-F238E27FC236}">
                <a16:creationId xmlns:a16="http://schemas.microsoft.com/office/drawing/2014/main" id="{FA62DB23-C87E-4811-87C1-1B103E5D63D9}"/>
              </a:ext>
            </a:extLst>
          </p:cNvPr>
          <p:cNvSpPr/>
          <p:nvPr/>
        </p:nvSpPr>
        <p:spPr>
          <a:xfrm rot="10800000">
            <a:off x="9414740" y="6228563"/>
            <a:ext cx="236734" cy="1683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56" name="Flèche : virage 55">
            <a:extLst>
              <a:ext uri="{FF2B5EF4-FFF2-40B4-BE49-F238E27FC236}">
                <a16:creationId xmlns:a16="http://schemas.microsoft.com/office/drawing/2014/main" id="{8ED8DA23-31D4-4B65-8A23-30B251D314CC}"/>
              </a:ext>
            </a:extLst>
          </p:cNvPr>
          <p:cNvSpPr/>
          <p:nvPr/>
        </p:nvSpPr>
        <p:spPr>
          <a:xfrm rot="16200000">
            <a:off x="4847141" y="3319400"/>
            <a:ext cx="1715285" cy="4439796"/>
          </a:xfrm>
          <a:prstGeom prst="bentArrow">
            <a:avLst>
              <a:gd name="adj1" fmla="val 2167"/>
              <a:gd name="adj2" fmla="val 10879"/>
              <a:gd name="adj3" fmla="val 25361"/>
              <a:gd name="adj4" fmla="val 4772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57" name="ZoneTexte 31">
            <a:extLst>
              <a:ext uri="{FF2B5EF4-FFF2-40B4-BE49-F238E27FC236}">
                <a16:creationId xmlns:a16="http://schemas.microsoft.com/office/drawing/2014/main" id="{7CC807F2-C082-440C-B767-2F2BF4DDB5EA}"/>
              </a:ext>
            </a:extLst>
          </p:cNvPr>
          <p:cNvSpPr txBox="1"/>
          <p:nvPr/>
        </p:nvSpPr>
        <p:spPr>
          <a:xfrm>
            <a:off x="10749798" y="5960255"/>
            <a:ext cx="348421" cy="2000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700">
                <a:cs typeface="Arial"/>
              </a:rPr>
              <a:t>YES</a:t>
            </a:r>
            <a:endParaRPr lang="fr-FR" sz="1050"/>
          </a:p>
        </p:txBody>
      </p:sp>
      <p:sp>
        <p:nvSpPr>
          <p:cNvPr id="59" name="ZoneTexte 32">
            <a:extLst>
              <a:ext uri="{FF2B5EF4-FFF2-40B4-BE49-F238E27FC236}">
                <a16:creationId xmlns:a16="http://schemas.microsoft.com/office/drawing/2014/main" id="{045059EF-23FE-4446-9A70-3D8AC63FB5D0}"/>
              </a:ext>
            </a:extLst>
          </p:cNvPr>
          <p:cNvSpPr txBox="1"/>
          <p:nvPr/>
        </p:nvSpPr>
        <p:spPr>
          <a:xfrm>
            <a:off x="9382430" y="6017862"/>
            <a:ext cx="377357" cy="2000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700">
                <a:cs typeface="Arial"/>
              </a:rPr>
              <a:t>NO</a:t>
            </a:r>
            <a:endParaRPr lang="fr-FR" sz="1050"/>
          </a:p>
        </p:txBody>
      </p:sp>
      <p:sp>
        <p:nvSpPr>
          <p:cNvPr id="60" name="ZoneTexte 3">
            <a:extLst>
              <a:ext uri="{FF2B5EF4-FFF2-40B4-BE49-F238E27FC236}">
                <a16:creationId xmlns:a16="http://schemas.microsoft.com/office/drawing/2014/main" id="{EB0247AC-D2E8-4D61-B72C-AAD0426BCA22}"/>
              </a:ext>
            </a:extLst>
          </p:cNvPr>
          <p:cNvSpPr txBox="1"/>
          <p:nvPr/>
        </p:nvSpPr>
        <p:spPr>
          <a:xfrm>
            <a:off x="7924680" y="6026916"/>
            <a:ext cx="1476534" cy="6001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100" dirty="0"/>
              <a:t>New adaptation </a:t>
            </a:r>
            <a:r>
              <a:rPr lang="fr-FR" sz="1100" dirty="0" err="1"/>
              <a:t>iteration</a:t>
            </a:r>
            <a:r>
              <a:rPr lang="fr-FR" sz="1100" dirty="0"/>
              <a:t> :</a:t>
            </a:r>
          </a:p>
          <a:p>
            <a:pPr algn="ctr"/>
            <a:r>
              <a:rPr lang="fr-FR" sz="1100" dirty="0"/>
              <a:t>k=</a:t>
            </a:r>
            <a:r>
              <a:rPr lang="fr-FR" sz="1100" dirty="0">
                <a:sym typeface="Wingdings" panose="05000000000000000000" pitchFamily="2" charset="2"/>
              </a:rPr>
              <a:t>k+1</a:t>
            </a:r>
          </a:p>
        </p:txBody>
      </p:sp>
      <p:sp>
        <p:nvSpPr>
          <p:cNvPr id="61" name="ZoneTexte 6">
            <a:extLst>
              <a:ext uri="{FF2B5EF4-FFF2-40B4-BE49-F238E27FC236}">
                <a16:creationId xmlns:a16="http://schemas.microsoft.com/office/drawing/2014/main" id="{37125C7B-CDCC-4289-B022-4712C8A8A5B2}"/>
              </a:ext>
            </a:extLst>
          </p:cNvPr>
          <p:cNvSpPr txBox="1"/>
          <p:nvPr/>
        </p:nvSpPr>
        <p:spPr>
          <a:xfrm>
            <a:off x="11152605" y="6175593"/>
            <a:ext cx="972409" cy="4154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050" dirty="0"/>
              <a:t>Best solution</a:t>
            </a:r>
          </a:p>
          <a:p>
            <a:pPr algn="ctr"/>
            <a:r>
              <a:rPr lang="fr-FR" sz="1050" dirty="0" err="1"/>
              <a:t>Yk</a:t>
            </a:r>
            <a:endParaRPr lang="fr-FR" sz="1050" dirty="0"/>
          </a:p>
        </p:txBody>
      </p:sp>
      <p:sp>
        <p:nvSpPr>
          <p:cNvPr id="62" name="ZoneTexte 3">
            <a:extLst>
              <a:ext uri="{FF2B5EF4-FFF2-40B4-BE49-F238E27FC236}">
                <a16:creationId xmlns:a16="http://schemas.microsoft.com/office/drawing/2014/main" id="{48FD066E-D45A-411B-AD80-7F2337A046D4}"/>
              </a:ext>
            </a:extLst>
          </p:cNvPr>
          <p:cNvSpPr txBox="1"/>
          <p:nvPr/>
        </p:nvSpPr>
        <p:spPr>
          <a:xfrm>
            <a:off x="8228436" y="4203167"/>
            <a:ext cx="1399636" cy="600164"/>
          </a:xfrm>
          <a:prstGeom prst="rect">
            <a:avLst/>
          </a:prstGeom>
          <a:solidFill>
            <a:srgbClr val="92D050"/>
          </a:solidFill>
          <a:ln>
            <a:solidFill>
              <a:srgbClr val="FF000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100" dirty="0" err="1"/>
              <a:t>Yk</a:t>
            </a:r>
            <a:r>
              <a:rPr lang="fr-FR" sz="1100" dirty="0"/>
              <a:t>=</a:t>
            </a:r>
            <a:r>
              <a:rPr lang="en-GB" sz="1100" dirty="0">
                <a:cs typeface="Arial"/>
              </a:rPr>
              <a:t> ADRS</a:t>
            </a:r>
            <a:r>
              <a:rPr lang="en-GB" sz="1100" baseline="30000" dirty="0">
                <a:cs typeface="Arial"/>
              </a:rPr>
              <a:t>-1</a:t>
            </a:r>
            <a:r>
              <a:rPr lang="en-GB" sz="1100" dirty="0">
                <a:cs typeface="Arial"/>
              </a:rPr>
              <a:t>(</a:t>
            </a:r>
            <a:r>
              <a:rPr lang="en-GB" sz="1100" dirty="0" err="1">
                <a:cs typeface="Arial"/>
              </a:rPr>
              <a:t>Fk</a:t>
            </a:r>
            <a:r>
              <a:rPr lang="en-GB" sz="1100" dirty="0">
                <a:cs typeface="Arial"/>
              </a:rPr>
              <a:t>)</a:t>
            </a:r>
            <a:r>
              <a:rPr lang="fr-FR" sz="1100" dirty="0"/>
              <a:t> @  </a:t>
            </a:r>
            <a:r>
              <a:rPr lang="fr-FR" sz="1100" dirty="0" err="1"/>
              <a:t>Mesh_k</a:t>
            </a:r>
            <a:endParaRPr lang="fr-FR" sz="1100" dirty="0"/>
          </a:p>
          <a:p>
            <a:pPr algn="ctr"/>
            <a:r>
              <a:rPr lang="fr-FR" sz="1100" dirty="0" err="1"/>
              <a:t>Starting</a:t>
            </a:r>
            <a:r>
              <a:rPr lang="fr-FR" sz="1100" dirty="0"/>
              <a:t> </a:t>
            </a:r>
            <a:r>
              <a:rPr lang="fr-FR" sz="1100" dirty="0" err="1"/>
              <a:t>from</a:t>
            </a:r>
            <a:r>
              <a:rPr lang="fr-FR" sz="1100" dirty="0"/>
              <a:t> Yik-1</a:t>
            </a:r>
          </a:p>
        </p:txBody>
      </p:sp>
      <p:sp>
        <p:nvSpPr>
          <p:cNvPr id="63" name="Flèche : droite 62">
            <a:extLst>
              <a:ext uri="{FF2B5EF4-FFF2-40B4-BE49-F238E27FC236}">
                <a16:creationId xmlns:a16="http://schemas.microsoft.com/office/drawing/2014/main" id="{8CF0195A-AF33-44DC-B1E9-A981E0DEC6AE}"/>
              </a:ext>
            </a:extLst>
          </p:cNvPr>
          <p:cNvSpPr/>
          <p:nvPr/>
        </p:nvSpPr>
        <p:spPr>
          <a:xfrm>
            <a:off x="9650591" y="4344276"/>
            <a:ext cx="236735" cy="108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64" name="ZoneTexte 6">
            <a:extLst>
              <a:ext uri="{FF2B5EF4-FFF2-40B4-BE49-F238E27FC236}">
                <a16:creationId xmlns:a16="http://schemas.microsoft.com/office/drawing/2014/main" id="{A8432F66-714C-436C-9F51-7A9E8B5355FC}"/>
              </a:ext>
            </a:extLst>
          </p:cNvPr>
          <p:cNvSpPr txBox="1"/>
          <p:nvPr/>
        </p:nvSpPr>
        <p:spPr>
          <a:xfrm>
            <a:off x="9895994" y="5187484"/>
            <a:ext cx="1345553" cy="230832"/>
          </a:xfrm>
          <a:prstGeom prst="rect">
            <a:avLst/>
          </a:prstGeom>
          <a:solidFill>
            <a:srgbClr val="92D050"/>
          </a:solidFill>
          <a:ln>
            <a:solidFill>
              <a:srgbClr val="FF000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900" b="1" dirty="0"/>
              <a:t>Ik = ||</a:t>
            </a:r>
            <a:r>
              <a:rPr lang="fr-FR" sz="900" b="1" dirty="0" err="1"/>
              <a:t>YBk</a:t>
            </a:r>
            <a:r>
              <a:rPr lang="fr-FR" sz="900" b="1" dirty="0"/>
              <a:t> – YBk-1||</a:t>
            </a:r>
            <a:r>
              <a:rPr lang="fr-FR" sz="900" b="1" baseline="-25000" dirty="0"/>
              <a:t>*</a:t>
            </a:r>
          </a:p>
        </p:txBody>
      </p:sp>
      <p:sp>
        <p:nvSpPr>
          <p:cNvPr id="65" name="Flèche : droite 64">
            <a:extLst>
              <a:ext uri="{FF2B5EF4-FFF2-40B4-BE49-F238E27FC236}">
                <a16:creationId xmlns:a16="http://schemas.microsoft.com/office/drawing/2014/main" id="{81745BD7-42A8-4119-88DF-B2E6017F61BF}"/>
              </a:ext>
            </a:extLst>
          </p:cNvPr>
          <p:cNvSpPr/>
          <p:nvPr/>
        </p:nvSpPr>
        <p:spPr>
          <a:xfrm rot="6892034">
            <a:off x="10199619" y="5670952"/>
            <a:ext cx="557491" cy="1256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66" name="ZoneTexte 6">
            <a:extLst>
              <a:ext uri="{FF2B5EF4-FFF2-40B4-BE49-F238E27FC236}">
                <a16:creationId xmlns:a16="http://schemas.microsoft.com/office/drawing/2014/main" id="{6248DE19-E8CB-41A3-A179-DEE7750BDCA4}"/>
              </a:ext>
            </a:extLst>
          </p:cNvPr>
          <p:cNvSpPr txBox="1"/>
          <p:nvPr/>
        </p:nvSpPr>
        <p:spPr>
          <a:xfrm>
            <a:off x="6824228" y="4214517"/>
            <a:ext cx="1151791" cy="507831"/>
          </a:xfrm>
          <a:prstGeom prst="rect">
            <a:avLst/>
          </a:prstGeom>
          <a:solidFill>
            <a:srgbClr val="92D050"/>
          </a:solidFill>
          <a:ln>
            <a:solidFill>
              <a:srgbClr val="FF000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900" b="1" dirty="0"/>
              <a:t>Yik-1: </a:t>
            </a:r>
            <a:r>
              <a:rPr lang="fr-FR" sz="900" b="1" dirty="0" err="1"/>
              <a:t>interpolate</a:t>
            </a:r>
            <a:r>
              <a:rPr lang="fr-FR" sz="900" b="1" dirty="0"/>
              <a:t> Yk-1 </a:t>
            </a:r>
            <a:r>
              <a:rPr lang="fr-FR" sz="900" b="1" dirty="0" err="1"/>
              <a:t>from</a:t>
            </a:r>
            <a:r>
              <a:rPr lang="fr-FR" sz="900" b="1" dirty="0"/>
              <a:t> </a:t>
            </a:r>
            <a:r>
              <a:rPr lang="fr-FR" sz="900" b="1" dirty="0" err="1"/>
              <a:t>Mesh</a:t>
            </a:r>
            <a:r>
              <a:rPr lang="fr-FR" sz="900" b="1" dirty="0"/>
              <a:t>_</a:t>
            </a:r>
          </a:p>
          <a:p>
            <a:pPr algn="ctr"/>
            <a:r>
              <a:rPr lang="fr-FR" sz="900" b="1" dirty="0"/>
              <a:t>k-1 to </a:t>
            </a:r>
            <a:r>
              <a:rPr lang="fr-FR" sz="900" b="1" dirty="0" err="1"/>
              <a:t>mesh</a:t>
            </a:r>
            <a:r>
              <a:rPr lang="fr-FR" sz="900" b="1" dirty="0"/>
              <a:t> k</a:t>
            </a:r>
          </a:p>
        </p:txBody>
      </p:sp>
      <p:sp>
        <p:nvSpPr>
          <p:cNvPr id="67" name="Flèche : droite 66">
            <a:extLst>
              <a:ext uri="{FF2B5EF4-FFF2-40B4-BE49-F238E27FC236}">
                <a16:creationId xmlns:a16="http://schemas.microsoft.com/office/drawing/2014/main" id="{CB00AEC2-92F2-4306-9A4C-8A49D591486C}"/>
              </a:ext>
            </a:extLst>
          </p:cNvPr>
          <p:cNvSpPr/>
          <p:nvPr/>
        </p:nvSpPr>
        <p:spPr>
          <a:xfrm>
            <a:off x="7991701" y="4355739"/>
            <a:ext cx="236735" cy="1087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981656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508</TotalTime>
  <Words>824</Words>
  <Application>Microsoft Office PowerPoint</Application>
  <PresentationFormat>Grand écran</PresentationFormat>
  <Paragraphs>116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Bijan Mohammadi</dc:creator>
  <cp:lastModifiedBy>Bijan Mohammadi</cp:lastModifiedBy>
  <cp:revision>11</cp:revision>
  <dcterms:created xsi:type="dcterms:W3CDTF">2025-09-22T10:18:24Z</dcterms:created>
  <dcterms:modified xsi:type="dcterms:W3CDTF">2025-09-29T16:09:28Z</dcterms:modified>
</cp:coreProperties>
</file>